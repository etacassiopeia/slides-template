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E07A5F"/>
                </a:solidFill>
                <a:latin typeface="Arial"/>
              </a:rPr>
              <a:t>Rift</a:t>
            </a:r>
            <a:r>
              <a:rPr sz="4200" b="1">
                <a:solidFill>
                  <a:srgbClr val="FFFFFF"/>
                </a:solidFill>
                <a:latin typeface="Arial"/>
              </a:rPr>
              <a:t>: High-Performance Service Virtualization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9CA3AF"/>
                </a:solidFill>
                <a:latin typeface="Arial"/>
              </a:rPr>
              <a:t>A Faster, Drop-In Replacement for Mountebank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114800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WRITTEN IN 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41148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20-250X FASTER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11480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DROP-IN COMPATIBLE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Why We're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The Reality of Integration Testing: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Arial"/>
              </a:rPr>
              <a:t>The Reality of Integration Testing: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Arial"/>
              </a:rPr>
              <a:t>-&gt; We rely on service virtualization (Mimeo/Mountebank)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Arial"/>
              </a:rPr>
              <a:t>-&gt; Mock server performance impacts CI/CD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Arial"/>
              </a:rPr>
              <a:t>-&gt; Faster tests = faster feedback = higher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Today's Goal: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Today's Goal: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Show you a tool that makes integration tests 20-250x faster without changing your existing mock configurations.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The Integration Testing Bottleneck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6858000" cy="32004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Your Microservice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6492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Arial"/>
              </a:rPr>
              <a:t>Your Microservice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Unit Tests        [OK]  Fast (ms)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Integration Tests [!!]  Slow (seconds per request)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8094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  -- Mock Server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  -- Predicate Matching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  -- JSON/XML Processing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587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5137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E2E Tests         [XX]  Very Slow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371600"/>
            <a:ext cx="3931920" cy="164592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15087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15087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F4444"/>
                </a:solidFill>
                <a:latin typeface="Arial"/>
              </a:rPr>
              <a:t>The 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1031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CA3AF"/>
                </a:solidFill>
                <a:latin typeface="Arial"/>
              </a:rPr>
              <a:t>Mock server performance limits test suite speed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2918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290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6366F1"/>
                </a:solidFill>
                <a:latin typeface="Arial"/>
              </a:rPr>
              <a:t>1000s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8862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TESTS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329184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34290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59E0B"/>
                </a:solidFill>
                <a:latin typeface="Arial"/>
              </a:rPr>
              <a:t>5-10ms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8862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PER REQUEST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Introducing </a:t>
            </a:r>
            <a:r>
              <a:rPr sz="4200" b="1">
                <a:solidFill>
                  <a:srgbClr val="E07A5F"/>
                </a:solidFill>
                <a:latin typeface="Arial"/>
              </a:rPr>
              <a:t>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Arial"/>
              </a:rPr>
              <a:t>A high-performance, Mountebank-compatible HTTP mock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2286000" cy="365760"/>
          </a:xfrm>
          <a:prstGeom prst="rect">
            <a:avLst/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7A5F"/>
                </a:solidFill>
                <a:latin typeface="Arial"/>
              </a:rPr>
              <a:t>Aspect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463040"/>
            <a:ext cx="4572000" cy="365760"/>
          </a:xfrm>
          <a:prstGeom prst="rect">
            <a:avLst/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536192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7A5F"/>
                </a:solidFill>
                <a:latin typeface="Arial"/>
              </a:rPr>
              <a:t>Rift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22860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828800"/>
            <a:ext cx="45720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901952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Rust (native performance)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6771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API Compatibility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194560"/>
            <a:ext cx="45720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267712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100% Mountebank REST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560320"/>
            <a:ext cx="22860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63347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Config Format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560320"/>
            <a:ext cx="45720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633472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Same JSON - zero changes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926080"/>
            <a:ext cx="22860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9923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Performance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2926080"/>
            <a:ext cx="45720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2999232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20-250x faster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291840"/>
            <a:ext cx="22860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36499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80" y="3291840"/>
            <a:ext cx="45720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364992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Single ~20MB binary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730752"/>
            <a:ext cx="2103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Memory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3657600"/>
            <a:ext cx="45720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3730752"/>
            <a:ext cx="43891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~50MB vs 200MB+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463040"/>
            <a:ext cx="3931920" cy="13716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1600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Key 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16002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Key Insight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210312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CA3AF"/>
                </a:solidFill>
                <a:latin typeface="Arial"/>
              </a:rPr>
              <a:t>Same API, same configs, dramatically better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Performance: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3017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7A5F"/>
                </a:solidFill>
                <a:latin typeface="Arial"/>
              </a:rPr>
              <a:t>Test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371600"/>
            <a:ext cx="1828800" cy="365760"/>
          </a:xfrm>
          <a:prstGeom prst="rect">
            <a:avLst/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44475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7A5F"/>
                </a:solidFill>
                <a:latin typeface="Arial"/>
              </a:rPr>
              <a:t>Mountebank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371600"/>
            <a:ext cx="1828800" cy="365760"/>
          </a:xfrm>
          <a:prstGeom prst="rect">
            <a:avLst/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44475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7A5F"/>
                </a:solidFill>
                <a:latin typeface="Arial"/>
              </a:rPr>
              <a:t>Rift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371600"/>
            <a:ext cx="1371600" cy="365760"/>
          </a:xfrm>
          <a:prstGeom prst="rect">
            <a:avLst/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44475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7A5F"/>
                </a:solidFill>
                <a:latin typeface="Arial"/>
              </a:rPr>
              <a:t>Speedup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737360"/>
            <a:ext cx="32004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10512"/>
            <a:ext cx="3017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Simple Health Check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737360"/>
            <a:ext cx="18288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18105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1,914 RPS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737360"/>
            <a:ext cx="18288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8105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39,127 RPS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1737360"/>
            <a:ext cx="13716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81051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103120"/>
            <a:ext cx="32004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176272"/>
            <a:ext cx="3017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JSONPath Predicates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2103120"/>
            <a:ext cx="18288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17627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108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103120"/>
            <a:ext cx="18288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17627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26,584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0" y="2103120"/>
            <a:ext cx="13716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17627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247x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468880"/>
            <a:ext cx="32004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542032"/>
            <a:ext cx="3017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XPath Predicates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2468880"/>
            <a:ext cx="18288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31920" y="254203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169 RPS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468880"/>
            <a:ext cx="18288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254203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28,745 RPS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2468880"/>
            <a:ext cx="13716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254203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170x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2834640"/>
            <a:ext cx="32004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2907792"/>
            <a:ext cx="3017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Complex AND/OR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0" y="2834640"/>
            <a:ext cx="18288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290779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905 RPS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2834640"/>
            <a:ext cx="18288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290779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29,323 RPS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2834640"/>
            <a:ext cx="13716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290779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32x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3200400"/>
            <a:ext cx="32004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3273552"/>
            <a:ext cx="3017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Last Stub Match (50)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3200400"/>
            <a:ext cx="18288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31920" y="327355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291 RPS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3200400"/>
            <a:ext cx="18288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720" y="327355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22,042 RPS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3200400"/>
            <a:ext cx="13716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89520" y="327355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76x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3566160"/>
            <a:ext cx="32004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1520" y="3639312"/>
            <a:ext cx="30175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200 Concurrent Conn.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840480" y="3566160"/>
            <a:ext cx="18288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31920" y="36393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1,831 RPS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3566160"/>
            <a:ext cx="18288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60720" y="3639312"/>
            <a:ext cx="1645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29,717 RPS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80" y="3566160"/>
            <a:ext cx="13716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20" y="3639312"/>
            <a:ext cx="11887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16x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4572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Benchmarks: 15s duration, 50 concurrent connections, 2 CPUs, 1GB RAM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0" y="137160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26880" y="15087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Highlight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15087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Highlight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81B29A"/>
                </a:solidFill>
                <a:latin typeface="Arial"/>
              </a:rPr>
              <a:t>247x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00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CA3AF"/>
                </a:solidFill>
                <a:latin typeface="Arial"/>
              </a:rPr>
              <a:t>faster JSONPath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Why the Massive Improvement?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Mountebank (Node.js)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F4444"/>
                </a:solidFill>
                <a:latin typeface="Arial"/>
              </a:rPr>
              <a:t>Mountebank (Node.js)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Arial"/>
              </a:rPr>
              <a:t>-&gt; V8 JavaScript Interpreter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Arial"/>
              </a:rPr>
              <a:t>-&gt; GC Pauses - latency spikes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Arial"/>
              </a:rPr>
              <a:t>-&gt; JIT Warmup - slow cold starts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Arial"/>
              </a:rPr>
              <a:t>-&gt; Single Thread - limited 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Arial"/>
              </a:rPr>
              <a:t>-&gt; 200MB+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F4444"/>
                </a:solidFill>
                <a:latin typeface="Arial"/>
              </a:rPr>
              <a:t>-&gt; JSON.parse() - JS-based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Arial"/>
              </a:rPr>
              <a:t>1,914 RPS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Rift (Rust)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Rift (Rust)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B29A"/>
                </a:solidFill>
                <a:latin typeface="Arial"/>
              </a:rPr>
              <a:t>-&gt; Native Binary - no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B29A"/>
                </a:solidFill>
                <a:latin typeface="Arial"/>
              </a:rPr>
              <a:t>-&gt; Zero GC - compile-time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B29A"/>
                </a:solidFill>
                <a:latin typeface="Arial"/>
              </a:rPr>
              <a:t>-&gt; Instant Start - full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B29A"/>
                </a:solidFill>
                <a:latin typeface="Arial"/>
              </a:rPr>
              <a:t>-&gt; Async I/O - all cores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31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B29A"/>
                </a:solidFill>
                <a:latin typeface="Arial"/>
              </a:rPr>
              <a:t>-&gt; 50MB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B29A"/>
                </a:solidFill>
                <a:latin typeface="Arial"/>
              </a:rPr>
              <a:t>-&gt; SIMD JSON - 10x faster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029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1B29A"/>
                </a:solidFill>
                <a:latin typeface="Arial"/>
              </a:rPr>
              <a:t>39,127 RPS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Zero-Friction Migration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07A5F">
              <a:lumMod val="25000"/>
              <a:lumOff val="75000"/>
            </a:srgbClr>
          </a:solidFill>
          <a:ln w="12700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E07A5F"/>
                </a:solidFill>
                <a:latin typeface="Arial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3898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Replace Docker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486400" cy="347472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192024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" y="192024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5568" y="192024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88366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onsolas"/>
              </a:rPr>
              <a:t>docker-compose.yml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57984"/>
            <a:ext cx="5486400" cy="841248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49424"/>
            <a:ext cx="512064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# Before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image: bbyars/mountebank:2.9.2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# After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image: zainalpour/rift-proxy:latest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81B29A">
              <a:lumMod val="25000"/>
              <a:lumOff val="75000"/>
            </a:srgbClr>
          </a:solidFill>
          <a:ln w="127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1B29A"/>
                </a:solidFill>
                <a:latin typeface="Arial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18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Use existing configuration (no changes!)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5486400" cy="347472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374904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2688" y="374904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5568" y="374904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71246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onsolas"/>
              </a:rPr>
              <a:t>terminal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986784"/>
            <a:ext cx="5486400" cy="566928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078224"/>
            <a:ext cx="51206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rift-http-proxy --configfile imposters.json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rift-http-proxy --datadir ./imposters/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371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6366F1">
              <a:lumMod val="25000"/>
              <a:lumOff val="75000"/>
            </a:srgbClr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6366F1"/>
                </a:solidFill>
                <a:latin typeface="Arial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13898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Run tests - they just 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1828800"/>
            <a:ext cx="4846320" cy="22860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965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Validated with Solo Configs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1965960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  <a:latin typeface="Arial"/>
              </a:rPr>
              <a:t>Validated with Solo Configs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468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B29A"/>
                </a:solidFill>
                <a:latin typeface="Arial"/>
              </a:rPr>
              <a:t>[OK] 35 imposter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834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B29A"/>
                </a:solidFill>
                <a:latin typeface="Arial"/>
              </a:rPr>
              <a:t>[OK] 674 stubs 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2004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B29A"/>
                </a:solidFill>
                <a:latin typeface="Arial"/>
              </a:rPr>
              <a:t>[OK] All loaded correctly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5661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1B29A"/>
                </a:solidFill>
                <a:latin typeface="Arial"/>
              </a:rPr>
              <a:t>[OK] No modifications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API Compatibility: What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Predicates (100%)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Arial"/>
              </a:rPr>
              <a:t>Predicates (100%)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equals, deepEquals, contains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startsWith, endsWith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matches (regex)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jsonpath, xpath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and, or, not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caseSensitive, except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Responses (100%)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508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Responses (100%)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is - static responses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proxy - forward to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inject - JavaScript functions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371600"/>
            <a:ext cx="3474720" cy="32004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Behaviors (100%)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50876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  <a:latin typeface="Arial"/>
              </a:rPr>
              <a:t>Behaviors (100%)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103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wait - latency simulation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23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decorate - 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743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copy - extract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063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[OK] lookup - data from 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29200"/>
            <a:ext cx="10972800" cy="640080"/>
          </a:xfrm>
          <a:prstGeom prst="roundRect">
            <a:avLst>
              <a:gd name="adj" fmla="val 30000"/>
            </a:avLst>
          </a:prstGeom>
          <a:solidFill>
            <a:srgbClr val="1E2235"/>
          </a:solidFill>
          <a:ln w="254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66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1B29A"/>
                </a:solidFill>
                <a:latin typeface="Arial"/>
              </a:rPr>
              <a:t>[OK] 126 compatibility tests verify byte-for-byte identical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Solo-Test Migration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35 Imposter Files Tested: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Arial"/>
              </a:rPr>
              <a:t>35 Imposter Files Tested: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euphoria_Appointment_v1_* (12 files)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tadashi_SalesMS_v1_* (4 files)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tadashi_PricingAndIncentives_v1_* (2 files)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seiko_StaffManagementBFF_v1_* (4 files)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83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aqua_Carwars_v1_* (2 files)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yoji_* (4 files)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233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kaizen_* (1 file)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... and more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37160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Compatibility: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5087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Compatibility: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2103120"/>
            <a:ext cx="1463040" cy="10058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2402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81B29A"/>
                </a:solidFill>
                <a:latin typeface="Arial"/>
              </a:rPr>
              <a:t>674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889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TOTAL STUBS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103120"/>
            <a:ext cx="1463040" cy="10058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2402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81B29A"/>
                </a:solidFill>
                <a:latin typeface="Arial"/>
              </a:rPr>
              <a:t>1,923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889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PREDICATES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2103120"/>
            <a:ext cx="1463040" cy="1005840"/>
          </a:xfrm>
          <a:prstGeom prst="roundRect">
            <a:avLst>
              <a:gd name="adj" fmla="val 8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240280"/>
            <a:ext cx="1463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81B29A"/>
                </a:solidFill>
                <a:latin typeface="Arial"/>
              </a:rPr>
              <a:t>593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78892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B7280"/>
                </a:solidFill>
                <a:latin typeface="Arial"/>
              </a:rPr>
              <a:t>JS BEHAVIORS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291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1B29A"/>
                </a:solidFill>
                <a:latin typeface="Arial"/>
              </a:rPr>
              <a:t>[OK] All loaded and functional on Rift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E07A5F"/>
                </a:solidFill>
                <a:latin typeface="Arial"/>
              </a:rPr>
              <a:t>Rift</a:t>
            </a:r>
            <a:r>
              <a:rPr sz="4200" b="1">
                <a:solidFill>
                  <a:srgbClr val="FFFFFF"/>
                </a:solidFill>
                <a:latin typeface="Arial"/>
              </a:rPr>
              <a:t>-Exclusive: Fault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Arial"/>
              </a:rPr>
              <a:t>Built-in chaos engineering (no JavaScript required)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6858000" cy="347472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55448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55448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517904"/>
            <a:ext cx="5394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onsolas"/>
              </a:rPr>
              <a:t>_rift extension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858000" cy="3127248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83664"/>
            <a:ext cx="6492240" cy="2990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"responses": [{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"is": {"statusCode": 200, "body": "OK"},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"_rift":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"fault":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  "latency":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    "probability": 0.3,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    "minMs": 100, "maxMs": 500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 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  "error": {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    "probability": 0.1,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    "status": 503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 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}]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63040"/>
            <a:ext cx="3931920" cy="22860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16002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What This Does: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0" y="16002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59E0B"/>
                </a:solidFill>
                <a:latin typeface="Arial"/>
              </a:rPr>
              <a:t>What This Does: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1945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Arial"/>
              </a:rPr>
              <a:t>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Arial"/>
              </a:rPr>
              <a:t>chance of 100-500ms 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651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Arial"/>
              </a:rPr>
              <a:t>10%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Arial"/>
              </a:rPr>
              <a:t>chance of 503 error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931920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4069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Benefits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40690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Benefits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4805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[OK] Declarative - no JS to debug
[OK] Mountebank-compatible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E07A5F"/>
                </a:solidFill>
                <a:latin typeface="Arial"/>
              </a:rPr>
              <a:t>Rift</a:t>
            </a:r>
            <a:r>
              <a:rPr sz="4200" b="1">
                <a:solidFill>
                  <a:srgbClr val="FFFFFF"/>
                </a:solidFill>
                <a:latin typeface="Arial"/>
              </a:rPr>
              <a:t>-Exclusive: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Arial"/>
              </a:rPr>
              <a:t>Prometheus Metrics (Port 9090)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7315200" cy="347472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55448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55448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517904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onsolas"/>
              </a:rPr>
              <a:t>prometheus metrics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7315200" cy="2852928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83664"/>
            <a:ext cx="6949440" cy="2715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# Request metrics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rift_requests_total{imposter="4545",status="200"} 15234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rift_request_duration_seconds_bucket{le="0.01"} 15000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# Fault injection metrics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rift_faults_injected_total{type="latency"} 4521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rift_faults_injected_total{type="error"} 1523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# System metrics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rift_imposters_active 12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rift_stubs_total 674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13716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Available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Available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-&gt; Request counts by imposter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3957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-&gt; Latency histograms (P50/P95/P99)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883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-&gt; Fault injection counters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01752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54680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  <a:latin typeface="Arial"/>
              </a:rP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CA3AF"/>
                </a:solidFill>
                <a:latin typeface="Arial"/>
              </a:rPr>
              <a:t>Grafana dashboards available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CA3AF"/>
                </a:solidFill>
                <a:latin typeface="Arial"/>
              </a:rPr>
              <a:t>Try it today: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6400800" cy="347472"/>
          </a:xfrm>
          <a:prstGeom prst="roundRect">
            <a:avLst>
              <a:gd name="adj" fmla="val 12000"/>
            </a:avLst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554480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1554480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1554480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517904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B7280"/>
                </a:solidFill>
                <a:latin typeface="Consolas"/>
              </a:rPr>
              <a:t>terminal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792224"/>
            <a:ext cx="6400800" cy="1755648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83664"/>
            <a:ext cx="6035040" cy="1618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# Pull the image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docker pull zainalpour/rift-proxy:latest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# Run with your existing configs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docker run -p 2525:2525 -p 4545:4545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-v ./imposters:/imposters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zainalpour/rift-proxy:latest \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9CA3AF"/>
                </a:solidFill>
                <a:latin typeface="Consolas"/>
              </a:rPr>
              <a:t>  --datadir /imposters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463040"/>
            <a:ext cx="4389120" cy="256032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0" y="1600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Next steps: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6002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Next steps: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1031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Arial"/>
              </a:rPr>
              <a:t>1. Test with existing configs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Arial"/>
              </a:rPr>
              <a:t>2. Measure CI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9260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Arial"/>
              </a:rPr>
              <a:t>3. Explore Rift-exclusive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3375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Arial"/>
              </a:rPr>
              <a:t>4. Share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Summary: Why </a:t>
            </a:r>
            <a:r>
              <a:rPr sz="4200" b="1">
                <a:solidFill>
                  <a:srgbClr val="E07A5F"/>
                </a:solidFill>
                <a:latin typeface="Arial"/>
              </a:rPr>
              <a:t>Rift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560320" cy="365760"/>
          </a:xfrm>
          <a:prstGeom prst="rect">
            <a:avLst/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4752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7A5F"/>
                </a:solidFill>
                <a:latin typeface="Arial"/>
              </a:rPr>
              <a:t>What You 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5029200" cy="365760"/>
          </a:xfrm>
          <a:prstGeom prst="rect">
            <a:avLst/>
          </a:prstGeom>
          <a:solidFill>
            <a:srgbClr val="252836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44475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7A5F"/>
                </a:solidFill>
                <a:latin typeface="Arial"/>
              </a:rPr>
              <a:t>Details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256032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Faster CI/CD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737360"/>
            <a:ext cx="50292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1051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20-250x faster mock responses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256032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76272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Zero Migration 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103120"/>
            <a:ext cx="50292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17627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Existing configs work unchanged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256032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542032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Better DX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468880"/>
            <a:ext cx="50292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254203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Less time waiting for tests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834640"/>
            <a:ext cx="256032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907792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Chaos Engineering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2834640"/>
            <a:ext cx="5029200" cy="365760"/>
          </a:xfrm>
          <a:prstGeom prst="rect">
            <a:avLst/>
          </a:prstGeom>
          <a:solidFill>
            <a:srgbClr val="1A1B2E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90779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Built-in fault injection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200400"/>
            <a:ext cx="256032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73552"/>
            <a:ext cx="2377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Observability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3200400"/>
            <a:ext cx="5029200" cy="365760"/>
          </a:xfrm>
          <a:prstGeom prst="rect">
            <a:avLst/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273552"/>
            <a:ext cx="4846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CA3AF"/>
                </a:solidFill>
                <a:latin typeface="Arial"/>
              </a:rPr>
              <a:t>Prometheus metrics out of the box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389120"/>
            <a:ext cx="10972800" cy="1097280"/>
          </a:xfrm>
          <a:prstGeom prst="roundRect">
            <a:avLst>
              <a:gd name="adj" fmla="val 15000"/>
            </a:avLst>
          </a:prstGeom>
          <a:solidFill>
            <a:srgbClr val="1E2235"/>
          </a:solidFill>
          <a:ln w="38100">
            <a:solidFill>
              <a:srgbClr val="81B2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1B29A"/>
                </a:solidFill>
                <a:latin typeface="Arial"/>
              </a:rPr>
              <a:t>Bottom Line: </a:t>
            </a:r>
            <a:r>
              <a:rPr sz="2000">
                <a:solidFill>
                  <a:srgbClr val="FFFFFF"/>
                </a:solidFill>
                <a:latin typeface="Arial"/>
              </a:rPr>
              <a:t>Same configs. Same API. Dramatically faster.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Resources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Rift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07A5F"/>
                </a:solidFill>
                <a:latin typeface="Arial"/>
              </a:rPr>
              <a:t>Rift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Arial"/>
              </a:rPr>
              <a:t>GitHub: github.com/EtaCassiopeia/rift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Arial"/>
              </a:rPr>
              <a:t>Docs: etacassiopeia.github.io/rift/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Arial"/>
              </a:rPr>
              <a:t>Docker: zainalpour/rift-proxy:latest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Compatibility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81B29A"/>
                </a:solidFill>
                <a:latin typeface="Arial"/>
              </a:rPr>
              <a:t>Compatibility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1B29A"/>
                </a:solidFill>
                <a:latin typeface="Arial"/>
              </a:rPr>
              <a:t>[OK] Full predicate/response/behavior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1B29A"/>
                </a:solidFill>
                <a:latin typeface="Arial"/>
              </a:rPr>
              <a:t>[OK] 126 automated compatibility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34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1B29A"/>
                </a:solidFill>
                <a:latin typeface="Arial"/>
              </a:rPr>
              <a:t>[OK] Byte-for-byte identical responses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5760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1E2235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Getting Help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366F1"/>
                </a:solidFill>
                <a:latin typeface="Arial"/>
              </a:rPr>
              <a:t>Getting Help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97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Arial"/>
              </a:rPr>
              <a:t>-&gt; GitHub Issues for bugs/features
-&gt; Slack: #test-automation channel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E07A5F"/>
                </a:solidFill>
                <a:latin typeface="Arial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CA3AF"/>
                </a:solidFill>
                <a:latin typeface="Arial"/>
              </a:rPr>
              <a:t>Same configs. Same API. Dramatically faster.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366F1"/>
                </a:solidFill>
                <a:latin typeface="Arial"/>
              </a:rPr>
              <a:t>github.com/EtaCassiopeia/rift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