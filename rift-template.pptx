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0" y="1371600"/>
            <a:ext cx="2011679" cy="292608"/>
          </a:xfrm>
          <a:prstGeom prst="roundRect">
            <a:avLst>
              <a:gd name="adj" fmla="val 50000"/>
            </a:avLst>
          </a:prstGeom>
          <a:solidFill>
            <a:srgbClr val="E07A5F">
              <a:lumMod val="25000"/>
              <a:lumOff val="75000"/>
            </a:srgbClr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07A5F"/>
                </a:solidFill>
                <a:latin typeface="Arial"/>
              </a:rPr>
              <a:t>WRITTEN IN RUST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81B29A">
              <a:lumMod val="25000"/>
              <a:lumOff val="75000"/>
            </a:srgbClr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1B29A"/>
                </a:solidFill>
                <a:latin typeface="Arial"/>
              </a:rPr>
              <a:t>COMPATIBLE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E07A5F"/>
                </a:solidFill>
                <a:latin typeface="Arial"/>
              </a:rPr>
              <a:t>Rift: </a:t>
            </a:r>
            <a:r>
              <a:rPr sz="5600" b="1">
                <a:solidFill>
                  <a:srgbClr val="FFFFFF"/>
                </a:solidFill>
                <a:latin typeface="Arial"/>
              </a:rPr>
              <a:t>High-Performance</a:t>
            </a:r>
          </a:p>
          <a:p>
            <a:pPr algn="ctr"/>
            <a:r>
              <a:rPr sz="5600" b="1">
                <a:solidFill>
                  <a:srgbClr val="FFFFFF"/>
                </a:solidFill>
                <a:latin typeface="Arial"/>
              </a:rPr>
              <a:t>Service Virtualization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9CA3AF"/>
                </a:solidFill>
                <a:latin typeface="Arial"/>
              </a:rPr>
              <a:t>A faster, drop-in replacement for Mountebank.
Run your integration tests at native speed.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475488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489204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E07A5F"/>
                </a:solidFill>
                <a:latin typeface="Arial"/>
              </a:rPr>
              <a:t>20-250x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5532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475488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489204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81B29A"/>
                </a:solidFill>
                <a:latin typeface="Arial"/>
              </a:rPr>
              <a:t>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5532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CONFIG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475488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489204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  <a:latin typeface="Arial"/>
              </a:rPr>
              <a:t>~50MB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5532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Code Block with Line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6366F1">
              <a:lumMod val="25000"/>
              <a:lumOff val="75000"/>
            </a:srgbClr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366F1"/>
                </a:solidFill>
                <a:latin typeface="Arial"/>
              </a:rPr>
              <a:t>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6400800" cy="347472"/>
          </a:xfrm>
          <a:prstGeom prst="roundRect">
            <a:avLst>
              <a:gd name="adj" fmla="val 12000"/>
            </a:avLst>
          </a:prstGeom>
          <a:solidFill>
            <a:srgbClr val="252836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280160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280160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1280160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243584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onsolas"/>
              </a:rPr>
              <a:t>imposter-config.json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17904"/>
            <a:ext cx="6400800" cy="4681728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17904"/>
            <a:ext cx="411480" cy="4681728"/>
          </a:xfrm>
          <a:prstGeom prst="rect">
            <a:avLst/>
          </a:prstGeom>
          <a:solidFill>
            <a:srgbClr val="1A1B2E">
              <a:lumMod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09344"/>
            <a:ext cx="320040" cy="4544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2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3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4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5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6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7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8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9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10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11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12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13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14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15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16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609344"/>
            <a:ext cx="5715000" cy="4544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B6B"/>
                </a:solidFill>
                <a:latin typeface="Consolas"/>
              </a:rPr>
              <a:t>  "port"</a:t>
            </a:r>
            <a:r>
              <a:rPr sz="1000">
                <a:solidFill>
                  <a:srgbClr val="9CA3AF"/>
                </a:solidFill>
                <a:latin typeface="Consolas"/>
              </a:rPr>
              <a:t>: </a:t>
            </a:r>
            <a:r>
              <a:rPr sz="1000">
                <a:solidFill>
                  <a:srgbClr val="F78C6C"/>
                </a:solidFill>
                <a:latin typeface="Consolas"/>
              </a:rPr>
              <a:t>8114</a:t>
            </a:r>
            <a:r>
              <a:rPr sz="1000">
                <a:solidFill>
                  <a:srgbClr val="9CA3AF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B6B"/>
                </a:solidFill>
                <a:latin typeface="Consolas"/>
              </a:rPr>
              <a:t>  "protocol"</a:t>
            </a:r>
            <a:r>
              <a:rPr sz="1000">
                <a:solidFill>
                  <a:srgbClr val="9CA3AF"/>
                </a:solidFill>
                <a:latin typeface="Consolas"/>
              </a:rPr>
              <a:t>: </a:t>
            </a:r>
            <a:r>
              <a:rPr sz="1000">
                <a:solidFill>
                  <a:srgbClr val="C3E88D"/>
                </a:solidFill>
                <a:latin typeface="Consolas"/>
              </a:rPr>
              <a:t>"http"</a:t>
            </a:r>
            <a:r>
              <a:rPr sz="1000">
                <a:solidFill>
                  <a:srgbClr val="9CA3AF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B6B"/>
                </a:solidFill>
                <a:latin typeface="Consolas"/>
              </a:rPr>
              <a:t>  "name"</a:t>
            </a:r>
            <a:r>
              <a:rPr sz="1000">
                <a:solidFill>
                  <a:srgbClr val="9CA3AF"/>
                </a:solidFill>
                <a:latin typeface="Consolas"/>
              </a:rPr>
              <a:t>: </a:t>
            </a:r>
            <a:r>
              <a:rPr sz="1000">
                <a:solidFill>
                  <a:srgbClr val="C3E88D"/>
                </a:solidFill>
                <a:latin typeface="Consolas"/>
              </a:rPr>
              <a:t>"User Service Mock"</a:t>
            </a:r>
            <a:r>
              <a:rPr sz="1000">
                <a:solidFill>
                  <a:srgbClr val="9CA3AF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B6B"/>
                </a:solidFill>
                <a:latin typeface="Consolas"/>
              </a:rPr>
              <a:t>  "stubs"</a:t>
            </a:r>
            <a:r>
              <a:rPr sz="1000">
                <a:solidFill>
                  <a:srgbClr val="9CA3AF"/>
                </a:solidFill>
                <a:latin typeface="Consolas"/>
              </a:rPr>
              <a:t>: [{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B6B"/>
                </a:solidFill>
                <a:latin typeface="Consolas"/>
              </a:rPr>
              <a:t>    "predicates"</a:t>
            </a:r>
            <a:r>
              <a:rPr sz="1000">
                <a:solidFill>
                  <a:srgbClr val="9CA3AF"/>
                </a:solidFill>
                <a:latin typeface="Consolas"/>
              </a:rPr>
              <a:t>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  {</a:t>
            </a:r>
            <a:r>
              <a:rPr sz="1000">
                <a:solidFill>
                  <a:srgbClr val="FFCB6B"/>
                </a:solidFill>
                <a:latin typeface="Consolas"/>
              </a:rPr>
              <a:t>"contains"</a:t>
            </a:r>
            <a:r>
              <a:rPr sz="1000">
                <a:solidFill>
                  <a:srgbClr val="9CA3AF"/>
                </a:solidFill>
                <a:latin typeface="Consolas"/>
              </a:rPr>
              <a:t>: { </a:t>
            </a:r>
            <a:r>
              <a:rPr sz="1000">
                <a:solidFill>
                  <a:srgbClr val="FFCB6B"/>
                </a:solidFill>
                <a:latin typeface="Consolas"/>
              </a:rPr>
              <a:t>"body"</a:t>
            </a:r>
            <a:r>
              <a:rPr sz="1000">
                <a:solidFill>
                  <a:srgbClr val="9CA3AF"/>
                </a:solidFill>
                <a:latin typeface="Consolas"/>
              </a:rPr>
              <a:t>: </a:t>
            </a:r>
            <a:r>
              <a:rPr sz="1000">
                <a:solidFill>
                  <a:srgbClr val="C3E88D"/>
                </a:solidFill>
                <a:latin typeface="Consolas"/>
              </a:rPr>
              <a:t>"12345"</a:t>
            </a:r>
            <a:r>
              <a:rPr sz="1000">
                <a:solidFill>
                  <a:srgbClr val="9CA3AF"/>
                </a:solidFill>
                <a:latin typeface="Consolas"/>
              </a:rPr>
              <a:t> }},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  {</a:t>
            </a:r>
            <a:r>
              <a:rPr sz="1000">
                <a:solidFill>
                  <a:srgbClr val="FFCB6B"/>
                </a:solidFill>
                <a:latin typeface="Consolas"/>
              </a:rPr>
              <a:t>"deepEquals"</a:t>
            </a:r>
            <a:r>
              <a:rPr sz="1000">
                <a:solidFill>
                  <a:srgbClr val="9CA3AF"/>
                </a:solidFill>
                <a:latin typeface="Consolas"/>
              </a:rPr>
              <a:t>: { </a:t>
            </a:r>
            <a:r>
              <a:rPr sz="1000">
                <a:solidFill>
                  <a:srgbClr val="FFCB6B"/>
                </a:solidFill>
                <a:latin typeface="Consolas"/>
              </a:rPr>
              <a:t>"method"</a:t>
            </a:r>
            <a:r>
              <a:rPr sz="1000">
                <a:solidFill>
                  <a:srgbClr val="9CA3AF"/>
                </a:solidFill>
                <a:latin typeface="Consolas"/>
              </a:rPr>
              <a:t>: </a:t>
            </a:r>
            <a:r>
              <a:rPr sz="1000">
                <a:solidFill>
                  <a:srgbClr val="C3E88D"/>
                </a:solidFill>
                <a:latin typeface="Consolas"/>
              </a:rPr>
              <a:t>"POST"</a:t>
            </a:r>
            <a:r>
              <a:rPr sz="1000">
                <a:solidFill>
                  <a:srgbClr val="9CA3AF"/>
                </a:solidFill>
                <a:latin typeface="Consolas"/>
              </a:rPr>
              <a:t> }}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B6B"/>
                </a:solidFill>
                <a:latin typeface="Consolas"/>
              </a:rPr>
              <a:t>    "responses"</a:t>
            </a:r>
            <a:r>
              <a:rPr sz="1000">
                <a:solidFill>
                  <a:srgbClr val="9CA3AF"/>
                </a:solidFill>
                <a:latin typeface="Consolas"/>
              </a:rPr>
              <a:t>: [{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B6B"/>
                </a:solidFill>
                <a:latin typeface="Consolas"/>
              </a:rPr>
              <a:t>      "is"</a:t>
            </a:r>
            <a:r>
              <a:rPr sz="1000">
                <a:solidFill>
                  <a:srgbClr val="9CA3AF"/>
                </a:solidFill>
                <a:latin typeface="Consolas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B6B"/>
                </a:solidFill>
                <a:latin typeface="Consolas"/>
              </a:rPr>
              <a:t>        "statusCode"</a:t>
            </a:r>
            <a:r>
              <a:rPr sz="1000">
                <a:solidFill>
                  <a:srgbClr val="9CA3AF"/>
                </a:solidFill>
                <a:latin typeface="Consolas"/>
              </a:rPr>
              <a:t>: </a:t>
            </a:r>
            <a:r>
              <a:rPr sz="1000">
                <a:solidFill>
                  <a:srgbClr val="F78C6C"/>
                </a:solidFill>
                <a:latin typeface="Consolas"/>
              </a:rPr>
              <a:t>200</a:t>
            </a:r>
            <a:r>
              <a:rPr sz="1000">
                <a:solidFill>
                  <a:srgbClr val="9CA3AF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B6B"/>
                </a:solidFill>
                <a:latin typeface="Consolas"/>
              </a:rPr>
              <a:t>        "body"</a:t>
            </a:r>
            <a:r>
              <a:rPr sz="1000">
                <a:solidFill>
                  <a:srgbClr val="9CA3AF"/>
                </a:solidFill>
                <a:latin typeface="Consolas"/>
              </a:rPr>
              <a:t>: </a:t>
            </a:r>
            <a:r>
              <a:rPr sz="1000">
                <a:solidFill>
                  <a:srgbClr val="C3E88D"/>
                </a:solidFill>
                <a:latin typeface="Consolas"/>
              </a:rPr>
              <a:t>"{\"status\": \"Success\"}"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}]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}]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188720"/>
            <a:ext cx="4206240" cy="22860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13258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Syntax Highlighting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1645920"/>
            <a:ext cx="3840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Code blocks support proper syntax highlighting:
• Yellow for property keys
• Green for strings
• Orange for numbers
• Gray for comments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657600"/>
            <a:ext cx="4206240" cy="41148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81B29A"/>
                </a:solidFill>
                <a:latin typeface="Arial"/>
              </a:rPr>
              <a:t>  Same config works on Rift unchanged!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Code with Annotations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572767" cy="292608"/>
          </a:xfrm>
          <a:prstGeom prst="roundRect">
            <a:avLst>
              <a:gd name="adj" fmla="val 50000"/>
            </a:avLst>
          </a:prstGeom>
          <a:solidFill>
            <a:srgbClr val="8B5CF6">
              <a:lumMod val="25000"/>
              <a:lumOff val="7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B5CF6"/>
                </a:solidFill>
                <a:latin typeface="Arial"/>
              </a:rPr>
              <a:t>NEW 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7315200" cy="347472"/>
          </a:xfrm>
          <a:prstGeom prst="roundRect">
            <a:avLst>
              <a:gd name="adj" fmla="val 12000"/>
            </a:avLst>
          </a:prstGeom>
          <a:solidFill>
            <a:srgbClr val="252836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280160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280160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1280160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243584"/>
            <a:ext cx="5852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onsolas"/>
              </a:rPr>
              <a:t>retry-test-config.json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17904"/>
            <a:ext cx="7315200" cy="4956048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17904"/>
            <a:ext cx="411480" cy="4956048"/>
          </a:xfrm>
          <a:prstGeom prst="rect">
            <a:avLst/>
          </a:prstGeom>
          <a:solidFill>
            <a:srgbClr val="1A1B2E">
              <a:lumMod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09344"/>
            <a:ext cx="320040" cy="4818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2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3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4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5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6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7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8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9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10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11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12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13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14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15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16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17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18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19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20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609344"/>
            <a:ext cx="6629400" cy="4818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B6B"/>
                </a:solidFill>
                <a:latin typeface="Consolas"/>
              </a:rPr>
              <a:t>  "_rift"</a:t>
            </a:r>
            <a:r>
              <a:rPr sz="1000">
                <a:solidFill>
                  <a:srgbClr val="9CA3AF"/>
                </a:solidFill>
                <a:latin typeface="Consolas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B6B"/>
                </a:solidFill>
                <a:latin typeface="Consolas"/>
              </a:rPr>
              <a:t>    "flowState"</a:t>
            </a:r>
            <a:r>
              <a:rPr sz="1000">
                <a:solidFill>
                  <a:srgbClr val="9CA3AF"/>
                </a:solidFill>
                <a:latin typeface="Consolas"/>
              </a:rPr>
              <a:t>: { </a:t>
            </a:r>
            <a:r>
              <a:rPr sz="1000">
                <a:solidFill>
                  <a:srgbClr val="FFCB6B"/>
                </a:solidFill>
                <a:latin typeface="Consolas"/>
              </a:rPr>
              <a:t>"backend"</a:t>
            </a:r>
            <a:r>
              <a:rPr sz="1000">
                <a:solidFill>
                  <a:srgbClr val="9CA3AF"/>
                </a:solidFill>
                <a:latin typeface="Consolas"/>
              </a:rPr>
              <a:t>: </a:t>
            </a:r>
            <a:r>
              <a:rPr sz="1000">
                <a:solidFill>
                  <a:srgbClr val="C3E88D"/>
                </a:solidFill>
                <a:latin typeface="Consolas"/>
              </a:rPr>
              <a:t>"inmemory"</a:t>
            </a:r>
            <a:r>
              <a:rPr sz="1000">
                <a:solidFill>
                  <a:srgbClr val="9CA3AF"/>
                </a:solidFill>
                <a:latin typeface="Consolas"/>
              </a:rPr>
              <a:t>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B6B"/>
                </a:solidFill>
                <a:latin typeface="Consolas"/>
              </a:rPr>
              <a:t>  "stubs"</a:t>
            </a:r>
            <a:r>
              <a:rPr sz="1000">
                <a:solidFill>
                  <a:srgbClr val="9CA3AF"/>
                </a:solidFill>
                <a:latin typeface="Consolas"/>
              </a:rPr>
              <a:t>: [{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B6B"/>
                </a:solidFill>
                <a:latin typeface="Consolas"/>
              </a:rPr>
              <a:t>    "responses"</a:t>
            </a:r>
            <a:r>
              <a:rPr sz="1000">
                <a:solidFill>
                  <a:srgbClr val="9CA3AF"/>
                </a:solidFill>
                <a:latin typeface="Consolas"/>
              </a:rPr>
              <a:t>: [{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B6B"/>
                </a:solidFill>
                <a:latin typeface="Consolas"/>
              </a:rPr>
              <a:t>      "_rift"</a:t>
            </a:r>
            <a:r>
              <a:rPr sz="1000">
                <a:solidFill>
                  <a:srgbClr val="9CA3AF"/>
                </a:solidFill>
                <a:latin typeface="Consolas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B6B"/>
                </a:solidFill>
                <a:latin typeface="Consolas"/>
              </a:rPr>
              <a:t>        "script"</a:t>
            </a:r>
            <a:r>
              <a:rPr sz="1000">
                <a:solidFill>
                  <a:srgbClr val="9CA3AF"/>
                </a:solidFill>
                <a:latin typeface="Consolas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B6B"/>
                </a:solidFill>
                <a:latin typeface="Consolas"/>
              </a:rPr>
              <a:t>          "engine"</a:t>
            </a:r>
            <a:r>
              <a:rPr sz="1000">
                <a:solidFill>
                  <a:srgbClr val="9CA3AF"/>
                </a:solidFill>
                <a:latin typeface="Consolas"/>
              </a:rPr>
              <a:t>: </a:t>
            </a:r>
            <a:r>
              <a:rPr sz="1000">
                <a:solidFill>
                  <a:srgbClr val="C3E88D"/>
                </a:solidFill>
                <a:latin typeface="Consolas"/>
              </a:rPr>
              <a:t>"rhai"</a:t>
            </a:r>
            <a:r>
              <a:rPr sz="1000">
                <a:solidFill>
                  <a:srgbClr val="9CA3AF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B6B"/>
                </a:solidFill>
                <a:latin typeface="Consolas"/>
              </a:rPr>
              <a:t>          "code"</a:t>
            </a:r>
            <a:r>
              <a:rPr sz="1000">
                <a:solidFill>
                  <a:srgbClr val="9CA3AF"/>
                </a:solidFill>
                <a:latin typeface="Consolas"/>
              </a:rPr>
              <a:t>: </a:t>
            </a:r>
            <a:r>
              <a:rPr sz="1000">
                <a:solidFill>
                  <a:srgbClr val="C3E88D"/>
                </a:solidFill>
                <a:latin typeface="Consolas"/>
              </a:rPr>
              <a:t>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792EA"/>
                </a:solidFill>
                <a:latin typeface="Consolas"/>
              </a:rPr>
              <a:t>let </a:t>
            </a:r>
            <a:r>
              <a:rPr sz="1000">
                <a:solidFill>
                  <a:srgbClr val="FFFFFF"/>
                </a:solidFill>
                <a:latin typeface="Consolas"/>
              </a:rPr>
              <a:t>attempts</a:t>
            </a:r>
            <a:r>
              <a:rPr sz="1000">
                <a:solidFill>
                  <a:srgbClr val="9CA3AF"/>
                </a:solidFill>
                <a:latin typeface="Consolas"/>
              </a:rPr>
              <a:t> = flow_store.increment();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792EA"/>
                </a:solidFill>
                <a:latin typeface="Consolas"/>
              </a:rPr>
              <a:t>if </a:t>
            </a:r>
            <a:r>
              <a:rPr sz="1000">
                <a:solidFill>
                  <a:srgbClr val="FFFFFF"/>
                </a:solidFill>
                <a:latin typeface="Consolas"/>
              </a:rPr>
              <a:t>attempts &lt;= 2 </a:t>
            </a:r>
            <a:r>
              <a:rPr sz="1000">
                <a:solidFill>
                  <a:srgbClr val="9CA3AF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#{inject: </a:t>
            </a:r>
            <a:r>
              <a:rPr sz="1000">
                <a:solidFill>
                  <a:srgbClr val="C792EA"/>
                </a:solidFill>
                <a:latin typeface="Consolas"/>
              </a:rPr>
              <a:t>true</a:t>
            </a:r>
            <a:r>
              <a:rPr sz="1000">
                <a:solidFill>
                  <a:srgbClr val="9CA3AF"/>
                </a:solidFill>
                <a:latin typeface="Consolas"/>
              </a:rPr>
              <a:t>, status: </a:t>
            </a:r>
            <a:r>
              <a:rPr sz="1000">
                <a:solidFill>
                  <a:srgbClr val="F78C6C"/>
                </a:solidFill>
                <a:latin typeface="Consolas"/>
              </a:rPr>
              <a:t>503</a:t>
            </a:r>
            <a:r>
              <a:rPr sz="1000">
                <a:solidFill>
                  <a:srgbClr val="9CA3AF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} </a:t>
            </a:r>
            <a:r>
              <a:rPr sz="1000">
                <a:solidFill>
                  <a:srgbClr val="C792EA"/>
                </a:solidFill>
                <a:latin typeface="Consolas"/>
              </a:rPr>
              <a:t>else</a:t>
            </a:r>
            <a:r>
              <a:rPr sz="1000">
                <a:solidFill>
                  <a:srgbClr val="9CA3AF"/>
                </a:solidFill>
                <a:latin typeface="Consolas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#{inject: </a:t>
            </a:r>
            <a:r>
              <a:rPr sz="1000">
                <a:solidFill>
                  <a:srgbClr val="C792EA"/>
                </a:solidFill>
                <a:latin typeface="Consolas"/>
              </a:rPr>
              <a:t>false</a:t>
            </a:r>
            <a:r>
              <a:rPr sz="1000">
                <a:solidFill>
                  <a:srgbClr val="9CA3AF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}"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}]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}]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615184"/>
            <a:ext cx="1828800" cy="256032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✗ Req 1 &amp; 2: Fail (503)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017520"/>
            <a:ext cx="1828800" cy="256032"/>
          </a:xfrm>
          <a:prstGeom prst="roundRect">
            <a:avLst>
              <a:gd name="adj" fmla="val 30000"/>
            </a:avLst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✓ Req 3+: Succeed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188720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3258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Stateful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2926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Floating annotations highlight key behaviors:
• Red badges for failures
• Green badges for success
• Blue badges for info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Performance: The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81B29A">
              <a:lumMod val="25000"/>
              <a:lumOff val="75000"/>
            </a:srgbClr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1B29A"/>
                </a:solidFill>
                <a:latin typeface="Arial"/>
              </a:rPr>
              <a:t>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2720340" cy="41148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Test Scenario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280160"/>
            <a:ext cx="2720340" cy="41148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1860" y="137160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Mountebank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280160"/>
            <a:ext cx="2720340" cy="41148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37160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Rift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01100" y="1280160"/>
            <a:ext cx="2720340" cy="41148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2540" y="137160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Speedup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69164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78308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Simple Health Check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0420" y="169164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1860" y="178308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1,914 RPS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69164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78308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1B29A"/>
                </a:solidFill>
                <a:latin typeface="Arial"/>
              </a:rPr>
              <a:t>39,127 RPS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01100" y="169164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2540" y="178308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07A5F"/>
                </a:solidFill>
                <a:latin typeface="Arial"/>
              </a:rPr>
              <a:t>20x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10312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19456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JSONPath Predicates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60420" y="210312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1860" y="219456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108 RPS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210312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219456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1B29A"/>
                </a:solidFill>
                <a:latin typeface="Arial"/>
              </a:rPr>
              <a:t>26,584 RPS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01100" y="210312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92540" y="219456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07A5F"/>
                </a:solidFill>
                <a:latin typeface="Arial"/>
              </a:rPr>
              <a:t>247x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51460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260604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XPath Predicates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60420" y="251460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51860" y="260604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169 RPS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251460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260604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1B29A"/>
                </a:solidFill>
                <a:latin typeface="Arial"/>
              </a:rPr>
              <a:t>28,745 RPS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01100" y="251460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92540" y="260604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07A5F"/>
                </a:solidFill>
                <a:latin typeface="Arial"/>
              </a:rPr>
              <a:t>170x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292608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01752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Complex AND/OR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60420" y="292608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51860" y="301752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905 RPS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292608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301752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1B29A"/>
                </a:solidFill>
                <a:latin typeface="Arial"/>
              </a:rPr>
              <a:t>29,323 RPS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01100" y="292608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92540" y="301752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07A5F"/>
                </a:solidFill>
                <a:latin typeface="Arial"/>
              </a:rPr>
              <a:t>32x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333756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342900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Last Stub Match (50)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60420" y="333756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51860" y="342900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291 RPS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80760" y="333756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342900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1B29A"/>
                </a:solidFill>
                <a:latin typeface="Arial"/>
              </a:rPr>
              <a:t>22,042 RPS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01100" y="333756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92540" y="342900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07A5F"/>
                </a:solidFill>
                <a:latin typeface="Arial"/>
              </a:rPr>
              <a:t>76x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374904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384048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200 Concurrent Conn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60420" y="374904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51860" y="384048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1,831 RPS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80760" y="374904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2200" y="384048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1B29A"/>
                </a:solidFill>
                <a:latin typeface="Arial"/>
              </a:rPr>
              <a:t>29,717 RPS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01100" y="3749040"/>
            <a:ext cx="2720340" cy="411480"/>
          </a:xfrm>
          <a:prstGeom prst="rect">
            <a:avLst/>
          </a:prstGeom>
          <a:solidFill>
            <a:srgbClr val="1E2235">
              <a:lumMod val="70000"/>
              <a:lumOff val="30000"/>
            </a:srgbClr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92540" y="3840480"/>
            <a:ext cx="25374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07A5F"/>
                </a:solidFill>
                <a:latin typeface="Arial"/>
              </a:rPr>
              <a:t>16x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</a:rPr>
              <a:t>Benchmarks: 15s duration, 50 concurrent connections, 2 CPUs, 1GB 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Terminal Output Style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901952" cy="292608"/>
          </a:xfrm>
          <a:prstGeom prst="roundRect">
            <a:avLst>
              <a:gd name="adj" fmla="val 50000"/>
            </a:avLst>
          </a:prstGeom>
          <a:solidFill>
            <a:srgbClr val="6366F1">
              <a:lumMod val="25000"/>
              <a:lumOff val="75000"/>
            </a:srgbClr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366F1"/>
                </a:solidFill>
                <a:latin typeface="Arial"/>
              </a:rPr>
              <a:t>DEV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6400800" cy="347472"/>
          </a:xfrm>
          <a:prstGeom prst="roundRect">
            <a:avLst>
              <a:gd name="adj" fmla="val 12000"/>
            </a:avLst>
          </a:prstGeom>
          <a:solidFill>
            <a:srgbClr val="2D2D2D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280160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280160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1280160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243584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onsolas"/>
              </a:rPr>
              <a:t>zsh - 80x24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17904"/>
            <a:ext cx="6400800" cy="4681728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9344"/>
            <a:ext cx="6126480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6366F1"/>
                </a:solidFill>
                <a:latin typeface="Consolas"/>
              </a:rPr>
              <a:t>dev@rift </a:t>
            </a:r>
            <a:r>
              <a:rPr sz="1000">
                <a:solidFill>
                  <a:srgbClr val="6B7280"/>
                </a:solidFill>
                <a:latin typeface="Consolas"/>
              </a:rPr>
              <a:t>~/solo-test </a:t>
            </a:r>
            <a:r>
              <a:rPr sz="1000">
                <a:solidFill>
                  <a:srgbClr val="9CA3AF"/>
                </a:solidFill>
                <a:latin typeface="Consolas"/>
              </a:rPr>
              <a:t>$ </a:t>
            </a:r>
            <a:r>
              <a:rPr sz="1000">
                <a:solidFill>
                  <a:srgbClr val="F59E0B"/>
                </a:solidFill>
                <a:latin typeface="Consolas"/>
              </a:rPr>
              <a:t>rift-lint ./imposters/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81B29A"/>
                </a:solidFill>
                <a:latin typeface="Consolas"/>
              </a:rPr>
              <a:t>✓ </a:t>
            </a:r>
            <a:r>
              <a:rPr sz="1000">
                <a:solidFill>
                  <a:srgbClr val="81B29A"/>
                </a:solidFill>
                <a:latin typeface="Consolas"/>
              </a:rPr>
              <a:t>euphoria_Appointment_v1.json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  12 stubs, 24 predicates </a:t>
            </a:r>
            <a:r>
              <a:rPr sz="1000">
                <a:solidFill>
                  <a:srgbClr val="81B29A"/>
                </a:solidFill>
                <a:latin typeface="Consolas"/>
              </a:rPr>
              <a:t>• Valid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F59E0B"/>
                </a:solidFill>
                <a:latin typeface="Consolas"/>
              </a:rPr>
              <a:t>⚠ </a:t>
            </a:r>
            <a:r>
              <a:rPr sz="1000">
                <a:solidFill>
                  <a:srgbClr val="F59E0B"/>
                </a:solidFill>
                <a:latin typeface="Consolas"/>
              </a:rPr>
              <a:t>tadashi_SalesMS_v1.json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Warning: Catch-all stub shadowing specific stubs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Move catch-all to end of array.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F4444"/>
                </a:solidFill>
                <a:latin typeface="Consolas"/>
              </a:rPr>
              <a:t>✗ </a:t>
            </a:r>
            <a:r>
              <a:rPr sz="1000">
                <a:solidFill>
                  <a:srgbClr val="EF4444"/>
                </a:solidFill>
                <a:latin typeface="Consolas"/>
              </a:rPr>
              <a:t>kaizen_Pricing_v1.json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Error: Invalid JSONPath selector in Stub #2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$.items[?(@.price &lt; 0)]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^ Expected comparison operator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F4444"/>
                </a:solidFill>
                <a:latin typeface="Consolas"/>
              </a:rPr>
              <a:t>✗ </a:t>
            </a:r>
            <a:r>
              <a:rPr sz="1000">
                <a:solidFill>
                  <a:srgbClr val="6B7280"/>
                </a:solidFill>
                <a:latin typeface="Consolas"/>
              </a:rPr>
              <a:t>Failed: </a:t>
            </a:r>
            <a:r>
              <a:rPr sz="1000">
                <a:solidFill>
                  <a:srgbClr val="EF4444"/>
                </a:solidFill>
                <a:latin typeface="Consolas"/>
              </a:rPr>
              <a:t>1 error, 1 warning found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188720"/>
            <a:ext cx="4206240" cy="201168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13258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rift-lint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645920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Configuration validator that catches errors before tests run:
• JSONPath syntax errors
• Stub shadowing warnings
• Regex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383280"/>
            <a:ext cx="4206240" cy="201168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35204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Color 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3840480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• Green (✓) = Valid/Success
• Yellow (⚠) = Warning
• Red (✗) = Error
• Blue = Commands/Links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TUI Mockup Style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572767" cy="292608"/>
          </a:xfrm>
          <a:prstGeom prst="roundRect">
            <a:avLst>
              <a:gd name="adj" fmla="val 50000"/>
            </a:avLst>
          </a:prstGeom>
          <a:solidFill>
            <a:srgbClr val="8B5CF6">
              <a:lumMod val="25000"/>
              <a:lumOff val="7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B5CF6"/>
                </a:solidFill>
                <a:latin typeface="Arial"/>
              </a:rPr>
              <a:t>INTERACTIVE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486400" cy="502920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5486400" cy="320040"/>
          </a:xfrm>
          <a:prstGeom prst="rect">
            <a:avLst/>
          </a:prstGeom>
          <a:solidFill>
            <a:srgbClr val="25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6F1"/>
                </a:solidFill>
                <a:latin typeface="Consolas"/>
              </a:rPr>
              <a:t>IMPOSTERS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B5CF6"/>
                </a:solidFill>
                <a:latin typeface="Consolas"/>
              </a:rPr>
              <a:t>IMPOSTERS (3)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81B29A"/>
                </a:solidFill>
                <a:latin typeface="Consolas"/>
              </a:rPr>
              <a:t>▸ </a:t>
            </a:r>
            <a:r>
              <a:rPr sz="900">
                <a:solidFill>
                  <a:srgbClr val="FFFFFF"/>
                </a:solidFill>
                <a:latin typeface="Consolas"/>
              </a:rPr>
              <a:t>4545: Users</a:t>
            </a:r>
            <a:r>
              <a:rPr sz="900">
                <a:solidFill>
                  <a:srgbClr val="6B7280"/>
                </a:solidFill>
                <a:latin typeface="Consolas"/>
              </a:rPr>
              <a:t>  ← selected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9CA3AF"/>
                </a:solidFill>
                <a:latin typeface="Consolas"/>
              </a:rPr>
              <a:t>  4546: Payments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9CA3AF"/>
                </a:solidFill>
                <a:latin typeface="Consolas"/>
              </a:rPr>
              <a:t>  4547: Notify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2D3348"/>
                </a:solidFill>
                <a:latin typeface="Consolas"/>
              </a:rPr>
              <a:t>─────────────────────────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F59E0B"/>
                </a:solidFill>
                <a:latin typeface="Consolas"/>
              </a:rPr>
              <a:t>Name:   </a:t>
            </a:r>
            <a:r>
              <a:rPr sz="900">
                <a:solidFill>
                  <a:srgbClr val="FFFFFF"/>
                </a:solidFill>
                <a:latin typeface="Consolas"/>
              </a:rPr>
              <a:t>User Service v1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F59E0B"/>
                </a:solidFill>
                <a:latin typeface="Consolas"/>
              </a:rPr>
              <a:t>Port:   </a:t>
            </a:r>
            <a:r>
              <a:rPr sz="900">
                <a:solidFill>
                  <a:srgbClr val="FFFFFF"/>
                </a:solidFill>
                <a:latin typeface="Consolas"/>
              </a:rPr>
              <a:t>4545 </a:t>
            </a:r>
            <a:r>
              <a:rPr sz="900">
                <a:solidFill>
                  <a:srgbClr val="6B7280"/>
                </a:solidFill>
                <a:latin typeface="Consolas"/>
              </a:rPr>
              <a:t>(HTTP)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F59E0B"/>
                </a:solidFill>
                <a:latin typeface="Consolas"/>
              </a:rPr>
              <a:t>Stubs:  </a:t>
            </a:r>
            <a:r>
              <a:rPr sz="900">
                <a:solidFill>
                  <a:srgbClr val="FFFFFF"/>
                </a:solidFill>
                <a:latin typeface="Consolas"/>
              </a:rPr>
              <a:t>12 loaded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6366F1"/>
                </a:solidFill>
                <a:latin typeface="Consolas"/>
              </a:rPr>
              <a:t>STUB #1: GET /USERS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81B29A"/>
                </a:solidFill>
                <a:latin typeface="Consolas"/>
              </a:rPr>
              <a:t>Predicates: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9CA3AF"/>
                </a:solidFill>
                <a:latin typeface="Consolas"/>
              </a:rPr>
              <a:t>equals: { method: "GET", path: "/users" }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81B29A"/>
                </a:solidFill>
                <a:latin typeface="Consolas"/>
              </a:rPr>
              <a:t>Response: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9CA3AF"/>
                </a:solidFill>
                <a:latin typeface="Consolas"/>
              </a:rPr>
              <a:t>200 OK (application/json)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943600"/>
            <a:ext cx="5486400" cy="320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onsolas"/>
              </a:rPr>
              <a:t>● Connected to localhost:2525 | [Enter] Select  [d] Details  [q] Quit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3258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rift-tui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64592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Interactive terminal UI for browsing imposters, inspecting stubs, and debugging matching logic in real-time.
• Navigate with arrow keys
• View stub details
• Generate curl commands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Comparison Panel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4389120" cy="2587752"/>
          </a:xfrm>
          <a:prstGeom prst="roundRect">
            <a:avLst>
              <a:gd name="adj" fmla="val 4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9844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Mountebank (Node.js)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V8 JavaScript Interpreter</a:t>
            </a:r>
          </a:p>
          <a:p>
            <a:r>
              <a:rPr sz="900">
                <a:solidFill>
                  <a:srgbClr val="6B7280"/>
                </a:solidFill>
              </a:rPr>
              <a:t>Runtime interpretation overhead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29967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29967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GC Pauses</a:t>
            </a:r>
          </a:p>
          <a:p>
            <a:r>
              <a:rPr sz="900">
                <a:solidFill>
                  <a:srgbClr val="6B7280"/>
                </a:solidFill>
              </a:rPr>
              <a:t>Garbage collection latency spikes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14015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14015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JIT Warmup Required</a:t>
            </a:r>
          </a:p>
          <a:p>
            <a:r>
              <a:rPr sz="900">
                <a:solidFill>
                  <a:srgbClr val="6B7280"/>
                </a:solidFill>
              </a:rPr>
              <a:t>Cold starts perform slower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98064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98064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Single-Threaded Loop</a:t>
            </a:r>
          </a:p>
          <a:p>
            <a:r>
              <a:rPr sz="900">
                <a:solidFill>
                  <a:srgbClr val="6B7280"/>
                </a:solidFill>
              </a:rPr>
              <a:t>Cannot use multiple cores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7560"/>
            <a:ext cx="4114800" cy="12700"/>
          </a:xfrm>
          <a:prstGeom prst="rect">
            <a:avLst/>
          </a:prstGeom>
          <a:solidFill>
            <a:srgbClr val="2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1071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MOUNTEBANK RPS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3375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07A5F"/>
                </a:solidFill>
              </a:rPr>
              <a:t>1,914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1188720"/>
            <a:ext cx="4389120" cy="2587752"/>
          </a:xfrm>
          <a:prstGeom prst="roundRect">
            <a:avLst>
              <a:gd name="adj" fmla="val 4000"/>
            </a:avLst>
          </a:prstGeom>
          <a:solidFill>
            <a:srgbClr val="1B262C"/>
          </a:solidFill>
          <a:ln>
            <a:solidFill>
              <a:srgbClr val="4A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129844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Rift (Rust)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64592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1B29A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Native Compiled Binary</a:t>
            </a:r>
          </a:p>
          <a:p>
            <a:r>
              <a:rPr sz="900">
                <a:solidFill>
                  <a:srgbClr val="6B7280"/>
                </a:solidFill>
              </a:rPr>
              <a:t>Direct machine code 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029967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1B29A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029967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Zero Garbage Collection</a:t>
            </a:r>
          </a:p>
          <a:p>
            <a:r>
              <a:rPr sz="900">
                <a:solidFill>
                  <a:srgbClr val="6B7280"/>
                </a:solidFill>
              </a:rPr>
              <a:t>Predictable latency, no pauses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414015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1B29A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2414015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Instant Start</a:t>
            </a:r>
          </a:p>
          <a:p>
            <a:r>
              <a:rPr sz="900">
                <a:solidFill>
                  <a:srgbClr val="6B7280"/>
                </a:solidFill>
              </a:rPr>
              <a:t>100% performance immediately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798064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1B29A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2798064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Async I/O (Tokio)</a:t>
            </a:r>
          </a:p>
          <a:p>
            <a:r>
              <a:rPr sz="900">
                <a:solidFill>
                  <a:srgbClr val="6B7280"/>
                </a:solidFill>
              </a:rPr>
              <a:t>Uses all CPU cores efficiently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40680" y="3337560"/>
            <a:ext cx="4114800" cy="12700"/>
          </a:xfrm>
          <a:prstGeom prst="rect">
            <a:avLst/>
          </a:prstGeom>
          <a:solidFill>
            <a:srgbClr val="2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0" y="341071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RIFT RPS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3375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81B29A"/>
                </a:solidFill>
              </a:rPr>
              <a:t>39,127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760720"/>
            <a:ext cx="9052560" cy="411480"/>
          </a:xfrm>
          <a:prstGeom prst="roundRect">
            <a:avLst>
              <a:gd name="adj" fmla="val 15000"/>
            </a:avLst>
          </a:prstGeom>
          <a:solidFill>
            <a:srgbClr val="6366F1">
              <a:lumMod val="20000"/>
              <a:lumOff val="80000"/>
            </a:srgbClr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6366F1"/>
                </a:solidFill>
                <a:latin typeface="Arial"/>
              </a:rPr>
              <a:t>  Key Insight: Same API, same configs, dramatically better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Feature Cards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E07A5F">
              <a:lumMod val="25000"/>
              <a:lumOff val="75000"/>
            </a:srgbClr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07A5F"/>
                </a:solidFill>
                <a:latin typeface="Arial"/>
              </a:rPr>
              <a:t>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2743200" cy="2377440"/>
          </a:xfrm>
          <a:prstGeom prst="roundRect">
            <a:avLst>
              <a:gd name="adj" fmla="val 6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411480" cy="411480"/>
          </a:xfrm>
          <a:prstGeom prst="roundRect">
            <a:avLst>
              <a:gd name="adj" fmla="val 25000"/>
            </a:avLst>
          </a:prstGeom>
          <a:solidFill>
            <a:srgbClr val="E07A5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Faster CI/CD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Drastic reduction in mock server overhead.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07A5F"/>
                </a:solidFill>
              </a:rPr>
              <a:t>20-250x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E07A5F"/>
                </a:solidFill>
              </a:rPr>
              <a:t>FASTER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280160"/>
            <a:ext cx="2743200" cy="2377440"/>
          </a:xfrm>
          <a:prstGeom prst="roundRect">
            <a:avLst>
              <a:gd name="adj" fmla="val 6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3320" y="1417320"/>
            <a:ext cx="411480" cy="411480"/>
          </a:xfrm>
          <a:prstGeom prst="roundRect">
            <a:avLst>
              <a:gd name="adj" fmla="val 25000"/>
            </a:avLst>
          </a:prstGeom>
          <a:solidFill>
            <a:srgbClr val="81B29A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44475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Zero Migration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194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Existing configs work unchanged.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01752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1B29A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38328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1B29A"/>
                </a:solidFill>
              </a:rPr>
              <a:t>CHANGES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280160"/>
            <a:ext cx="2743200" cy="2377440"/>
          </a:xfrm>
          <a:prstGeom prst="roundRect">
            <a:avLst>
              <a:gd name="adj" fmla="val 6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29400" y="1417320"/>
            <a:ext cx="411480" cy="411480"/>
          </a:xfrm>
          <a:prstGeom prst="roundRect">
            <a:avLst>
              <a:gd name="adj" fmla="val 25000"/>
            </a:avLst>
          </a:prstGeom>
          <a:solidFill>
            <a:srgbClr val="6366F1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44475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Dev 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194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Less time waiting for tests.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01752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366F1"/>
                </a:solidFill>
              </a:rPr>
              <a:t>&lt;1s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38328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366F1"/>
                </a:solidFill>
              </a:rPr>
              <a:t>STARTUP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128016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55480" y="1417320"/>
            <a:ext cx="411480" cy="411480"/>
          </a:xfrm>
          <a:prstGeom prst="roundRect">
            <a:avLst>
              <a:gd name="adj" fmla="val 25000"/>
            </a:avLst>
          </a:prstGeom>
          <a:solidFill>
            <a:srgbClr val="8B5C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144475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1920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New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Chaos engineering &amp; metrics.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931920"/>
            <a:ext cx="2194560" cy="109728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06908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E07A5F"/>
                </a:solidFill>
                <a:latin typeface="Arial"/>
              </a:rPr>
              <a:t>674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70916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TOTAL STUBS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0" y="3931920"/>
            <a:ext cx="2194560" cy="109728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7520" y="406908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  <a:latin typeface="Arial"/>
              </a:rPr>
              <a:t>1,923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470916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PREDICATES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0" y="3931920"/>
            <a:ext cx="2194560" cy="109728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0" y="406908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8B5CF6"/>
                </a:solidFill>
                <a:latin typeface="Arial"/>
              </a:rPr>
              <a:t>593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470916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JS BEHAVIORS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3931920"/>
            <a:ext cx="2194560" cy="109728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406908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81B29A"/>
                </a:solidFill>
                <a:latin typeface="Arial"/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70916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FUNCTIONAL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30352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440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Bottom 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760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Same configs. Same API. Dramatically faster.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Step Panels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81B29A">
              <a:lumMod val="25000"/>
              <a:lumOff val="75000"/>
            </a:srgbClr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1B29A"/>
                </a:solidFill>
                <a:latin typeface="Arial"/>
              </a:rPr>
              <a:t>MIGRATION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029200" cy="685800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444752"/>
            <a:ext cx="365760" cy="365760"/>
          </a:xfrm>
          <a:prstGeom prst="ellipse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8988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Replace Docker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6420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Arial"/>
              </a:rPr>
              <a:t>Change one line in your docker-compose or Kubernetes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5029200" cy="685800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267712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1284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Use Existing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8716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Arial"/>
              </a:rPr>
              <a:t>Same CLI flags as Mountebank: --configfile, --datadir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26080"/>
            <a:ext cx="5029200" cy="685800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3090672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3580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Run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101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Arial"/>
              </a:rPr>
              <a:t>They just work - no changes needed!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280160"/>
            <a:ext cx="5577840" cy="347472"/>
          </a:xfrm>
          <a:prstGeom prst="roundRect">
            <a:avLst>
              <a:gd name="adj" fmla="val 12000"/>
            </a:avLst>
          </a:prstGeom>
          <a:solidFill>
            <a:srgbClr val="252836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53328" y="1371600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36208" y="1371600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1371600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335024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onsolas"/>
              </a:rPr>
              <a:t>docker-compose.yml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609344"/>
            <a:ext cx="5577840" cy="2029968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1609344"/>
            <a:ext cx="411480" cy="2029968"/>
          </a:xfrm>
          <a:prstGeom prst="rect">
            <a:avLst/>
          </a:prstGeom>
          <a:solidFill>
            <a:srgbClr val="1A1B2E">
              <a:lumMod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1700784"/>
            <a:ext cx="320040" cy="1892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1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2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3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4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B7280"/>
                </a:solidFill>
                <a:latin typeface="Consola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700784"/>
            <a:ext cx="4892040" cy="1892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546E7A"/>
                </a:solidFill>
                <a:latin typeface="Consolas"/>
              </a:rPr>
              <a:t># Before (Mountebank)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B6B"/>
                </a:solidFill>
                <a:latin typeface="Consolas"/>
              </a:rPr>
              <a:t>image</a:t>
            </a:r>
            <a:r>
              <a:rPr sz="1000">
                <a:solidFill>
                  <a:srgbClr val="C3E88D"/>
                </a:solidFill>
                <a:latin typeface="Consolas"/>
              </a:rPr>
              <a:t>: bbyars/mountebank:2.9.2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546E7A"/>
                </a:solidFill>
                <a:latin typeface="Consolas"/>
              </a:rPr>
              <a:t># After (Rift) - just change the image!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B6B"/>
                </a:solidFill>
                <a:latin typeface="Consolas"/>
              </a:rPr>
              <a:t>image</a:t>
            </a:r>
            <a:r>
              <a:rPr sz="1000">
                <a:solidFill>
                  <a:srgbClr val="C3E88D"/>
                </a:solidFill>
                <a:latin typeface="Consolas"/>
              </a:rPr>
              <a:t>: zainalpour/rift-proxy:latest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840480"/>
            <a:ext cx="10881360" cy="41148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81B29A"/>
                </a:solidFill>
                <a:latin typeface="Arial"/>
              </a:rPr>
              <a:t>  Migration is low-risk: configs don't change. Switch back to Mountebank instantly if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Color Palette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35331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Coral (Primary)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2763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Consolas"/>
              </a:rPr>
              <a:t>#E07A5F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28016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35331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Green (Success)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62763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Consolas"/>
              </a:rPr>
              <a:t>#81B29A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28016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35331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Blue (Info)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62763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Consolas"/>
              </a:rPr>
              <a:t>#6366F1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6032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263347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Purple (Feature)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077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Consolas"/>
              </a:rPr>
              <a:t>#8B5CF6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256032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63347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Yellow (Warning)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9077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Consolas"/>
              </a:rPr>
              <a:t>#F59E0B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56032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63347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Red (Error)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9077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Consolas"/>
              </a:rPr>
              <a:t>#EF4444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1480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F0F1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16052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Primary BG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407408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Consolas"/>
              </a:rPr>
              <a:t>#0F0F1A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39" y="411480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235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39" y="416052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Card BG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39" y="4407408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Consolas"/>
              </a:rPr>
              <a:t>#1E2235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11480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A1B2E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416052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Code BG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407408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Consolas"/>
              </a:rPr>
              <a:t>#1A1B2E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59" y="411480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2D3348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59" y="416052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Border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59" y="4407408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Consolas"/>
              </a:rPr>
              <a:t>#2D3348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02920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Typography</a:t>
            </a:r>
          </a:p>
          <a:p>
            <a:r>
              <a:rPr sz="1100">
                <a:solidFill>
                  <a:srgbClr val="6B7280"/>
                </a:solidFill>
              </a:rPr>
              <a:t>Primary Font: Roboto (or Arial)  |  Monospace: Roboto Mono (or Consolas)
Headings: Bold  |  Body: Regular  |  Labels: Medium, UPPERCASE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Button Styles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6366F1">
              <a:lumMod val="25000"/>
              <a:lumOff val="75000"/>
            </a:srgbClr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366F1"/>
                </a:solidFill>
                <a:latin typeface="Arial"/>
              </a:rPr>
              <a:t>UI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PRIMARY BUTTONS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645920" cy="365760"/>
          </a:xfrm>
          <a:prstGeom prst="roundRect">
            <a:avLst>
              <a:gd name="adj" fmla="val 35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Coral Button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508760"/>
            <a:ext cx="1645920" cy="365760"/>
          </a:xfrm>
          <a:prstGeom prst="roundRect">
            <a:avLst>
              <a:gd name="adj" fmla="val 35000"/>
            </a:avLst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Green Button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508760"/>
            <a:ext cx="1554480" cy="365760"/>
          </a:xfrm>
          <a:prstGeom prst="roundRect">
            <a:avLst>
              <a:gd name="adj" fmla="val 3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Blue Button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508760"/>
            <a:ext cx="1737360" cy="365760"/>
          </a:xfrm>
          <a:prstGeom prst="roundRect">
            <a:avLst>
              <a:gd name="adj" fmla="val 3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Purple Button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OUTLINE BUTTONS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23160"/>
            <a:ext cx="1737360" cy="365760"/>
          </a:xfrm>
          <a:prstGeom prst="roundRect">
            <a:avLst>
              <a:gd name="adj" fmla="val 35000"/>
            </a:avLst>
          </a:prstGeom>
          <a:noFill/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07A5F"/>
                </a:solidFill>
                <a:latin typeface="Arial"/>
              </a:rPr>
              <a:t>Coral Outline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2423160"/>
            <a:ext cx="1737360" cy="365760"/>
          </a:xfrm>
          <a:prstGeom prst="roundRect">
            <a:avLst>
              <a:gd name="adj" fmla="val 35000"/>
            </a:avLst>
          </a:prstGeom>
          <a:noFill/>
          <a:ln w="1905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81B29A"/>
                </a:solidFill>
                <a:latin typeface="Arial"/>
              </a:rPr>
              <a:t>Green Outline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2423160"/>
            <a:ext cx="1645920" cy="365760"/>
          </a:xfrm>
          <a:prstGeom prst="roundRect">
            <a:avLst>
              <a:gd name="adj" fmla="val 35000"/>
            </a:avLst>
          </a:prstGeom>
          <a:noFill/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Blue Outline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2423160"/>
            <a:ext cx="1828800" cy="365760"/>
          </a:xfrm>
          <a:prstGeom prst="roundRect">
            <a:avLst>
              <a:gd name="adj" fmla="val 35000"/>
            </a:avLst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8B5CF6"/>
                </a:solidFill>
                <a:latin typeface="Arial"/>
              </a:rPr>
              <a:t>Purple Outline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GHOST BUTTONS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37560"/>
            <a:ext cx="1554480" cy="365760"/>
          </a:xfrm>
          <a:prstGeom prst="roundRect">
            <a:avLst>
              <a:gd name="adj" fmla="val 35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07A5F"/>
                </a:solidFill>
                <a:latin typeface="Arial"/>
              </a:rPr>
              <a:t>Coral Ghost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3337560"/>
            <a:ext cx="1554480" cy="365760"/>
          </a:xfrm>
          <a:prstGeom prst="roundRect">
            <a:avLst>
              <a:gd name="adj" fmla="val 35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81B29A"/>
                </a:solidFill>
                <a:latin typeface="Arial"/>
              </a:rPr>
              <a:t>Green Ghost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337560"/>
            <a:ext cx="1463040" cy="365760"/>
          </a:xfrm>
          <a:prstGeom prst="roundRect">
            <a:avLst>
              <a:gd name="adj" fmla="val 35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Arial"/>
              </a:rPr>
              <a:t>Blue Ghost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9240" y="3337560"/>
            <a:ext cx="1645920" cy="365760"/>
          </a:xfrm>
          <a:prstGeom prst="roundRect">
            <a:avLst>
              <a:gd name="adj" fmla="val 35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8B5CF6"/>
                </a:solidFill>
                <a:latin typeface="Arial"/>
              </a:rPr>
              <a:t>Purple Ghost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188720"/>
            <a:ext cx="3749039" cy="27432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132588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Button Usage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1645920"/>
            <a:ext cx="3383279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Primary: Main actions, CTAs
Outline: Secondary actions
Ghost: Tertiary actions, links
Colors indicate intent:
• Coral: Brand/Primary
• Green: Success/Confirm
• Blue: Info/Links
• Purple: Features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Badges, Pills &amp;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8B5CF6">
              <a:lumMod val="25000"/>
              <a:lumOff val="7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B5CF6"/>
                </a:solidFill>
                <a:latin typeface="Arial"/>
              </a:rPr>
              <a:t>UI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BADGES (6 COLORS)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572767" cy="292608"/>
          </a:xfrm>
          <a:prstGeom prst="roundRect">
            <a:avLst>
              <a:gd name="adj" fmla="val 50000"/>
            </a:avLst>
          </a:prstGeom>
          <a:solidFill>
            <a:srgbClr val="E07A5F">
              <a:lumMod val="25000"/>
              <a:lumOff val="75000"/>
            </a:srgbClr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07A5F"/>
                </a:solidFill>
                <a:latin typeface="Arial"/>
              </a:rPr>
              <a:t>CORAL BADGE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508760"/>
            <a:ext cx="1572767" cy="292608"/>
          </a:xfrm>
          <a:prstGeom prst="roundRect">
            <a:avLst>
              <a:gd name="adj" fmla="val 50000"/>
            </a:avLst>
          </a:prstGeom>
          <a:solidFill>
            <a:srgbClr val="81B29A">
              <a:lumMod val="25000"/>
              <a:lumOff val="75000"/>
            </a:srgbClr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1B29A"/>
                </a:solidFill>
                <a:latin typeface="Arial"/>
              </a:rPr>
              <a:t>GREEN BADGE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508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366F1">
              <a:lumMod val="25000"/>
              <a:lumOff val="75000"/>
            </a:srgbClr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366F1"/>
                </a:solidFill>
                <a:latin typeface="Arial"/>
              </a:rPr>
              <a:t>BLUE BADGE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1508760"/>
            <a:ext cx="1682495" cy="292608"/>
          </a:xfrm>
          <a:prstGeom prst="roundRect">
            <a:avLst>
              <a:gd name="adj" fmla="val 50000"/>
            </a:avLst>
          </a:prstGeom>
          <a:solidFill>
            <a:srgbClr val="8B5CF6">
              <a:lumMod val="25000"/>
              <a:lumOff val="7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B5CF6"/>
                </a:solidFill>
                <a:latin typeface="Arial"/>
              </a:rPr>
              <a:t>PURPLE BADGE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508760"/>
            <a:ext cx="1682495" cy="292608"/>
          </a:xfrm>
          <a:prstGeom prst="roundRect">
            <a:avLst>
              <a:gd name="adj" fmla="val 50000"/>
            </a:avLst>
          </a:prstGeom>
          <a:solidFill>
            <a:srgbClr val="F59E0B">
              <a:lumMod val="25000"/>
              <a:lumOff val="75000"/>
            </a:srgbClr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9E0B"/>
                </a:solidFill>
                <a:latin typeface="Arial"/>
              </a:rPr>
              <a:t>YELLOW BADGE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1508760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EF4444">
              <a:lumMod val="25000"/>
              <a:lumOff val="75000"/>
            </a:srgbClr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F4444"/>
                </a:solidFill>
                <a:latin typeface="Arial"/>
              </a:rPr>
              <a:t>RED BADGE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STATUS PILLS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377440"/>
            <a:ext cx="1042416" cy="256032"/>
          </a:xfrm>
          <a:prstGeom prst="roundRect">
            <a:avLst>
              <a:gd name="adj" fmla="val 50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1B29A"/>
                </a:solidFill>
                <a:latin typeface="Arial"/>
              </a:rPr>
              <a:t>● Active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2377440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9E0B"/>
                </a:solidFill>
                <a:latin typeface="Arial"/>
              </a:rPr>
              <a:t>● Pending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377440"/>
            <a:ext cx="969264" cy="256032"/>
          </a:xfrm>
          <a:prstGeom prst="roundRect">
            <a:avLst>
              <a:gd name="adj" fmla="val 50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F4444"/>
                </a:solidFill>
                <a:latin typeface="Arial"/>
              </a:rPr>
              <a:t>● 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377440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366F1"/>
                </a:solidFill>
                <a:latin typeface="Arial"/>
              </a:rPr>
              <a:t>● Info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260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METRIC BADGES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00400"/>
            <a:ext cx="566928" cy="237744"/>
          </a:xfrm>
          <a:prstGeom prst="roundRect">
            <a:avLst>
              <a:gd name="adj" fmla="val 25000"/>
            </a:avLst>
          </a:prstGeom>
          <a:solidFill>
            <a:srgbClr val="81B29A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1B29A"/>
                </a:solidFill>
                <a:latin typeface="Arial"/>
              </a:rPr>
              <a:t>+15%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3200400"/>
            <a:ext cx="493776" cy="237744"/>
          </a:xfrm>
          <a:prstGeom prst="roundRect">
            <a:avLst>
              <a:gd name="adj" fmla="val 25000"/>
            </a:avLst>
          </a:prstGeom>
          <a:solidFill>
            <a:srgbClr val="EF4444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F4444"/>
                </a:solidFill>
                <a:latin typeface="Arial"/>
              </a:rPr>
              <a:t>-8%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3200400"/>
            <a:ext cx="493776" cy="237744"/>
          </a:xfrm>
          <a:prstGeom prst="roundRect">
            <a:avLst>
              <a:gd name="adj" fmla="val 25000"/>
            </a:avLst>
          </a:prstGeom>
          <a:solidFill>
            <a:srgbClr val="6366F1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366F1"/>
                </a:solidFill>
                <a:latin typeface="Arial"/>
              </a:rPr>
              <a:t>NEW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3200400"/>
            <a:ext cx="493776" cy="237744"/>
          </a:xfrm>
          <a:prstGeom prst="roundRect">
            <a:avLst>
              <a:gd name="adj" fmla="val 25000"/>
            </a:avLst>
          </a:prstGeom>
          <a:solidFill>
            <a:srgbClr val="E07A5F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07A5F"/>
                </a:solidFill>
                <a:latin typeface="Arial"/>
              </a:rPr>
              <a:t>HOT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404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7764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Badge Usage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9768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Badges: Labels, categories, tags
• Uppercase text
• 15% opacity background
• 30% opacity border
Pills: Status indicators
• Sentence case
• Solid background
Metric Badges: Change indicators
• Show deltas (+/-)
• Highlight new items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2103120"/>
            <a:ext cx="5577840" cy="402336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24028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Example: Feature Card with Badges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743200"/>
            <a:ext cx="1572767" cy="292608"/>
          </a:xfrm>
          <a:prstGeom prst="roundRect">
            <a:avLst>
              <a:gd name="adj" fmla="val 50000"/>
            </a:avLst>
          </a:prstGeom>
          <a:solidFill>
            <a:srgbClr val="8B5CF6">
              <a:lumMod val="25000"/>
              <a:lumOff val="7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B5CF6"/>
                </a:solidFill>
                <a:latin typeface="Arial"/>
              </a:rPr>
              <a:t>NEW FEATURE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2743200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07A5F">
              <a:lumMod val="25000"/>
              <a:lumOff val="75000"/>
            </a:srgbClr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07A5F"/>
                </a:solidFill>
                <a:latin typeface="Arial"/>
              </a:rPr>
              <a:t>RUST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2004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Stateful Response 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6118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Track request state across calls for retry logic, circuit breakers, and stateful scenarios.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434840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1B29A"/>
                </a:solidFill>
                <a:latin typeface="Arial"/>
              </a:rPr>
              <a:t>● Available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4453128"/>
            <a:ext cx="640080" cy="237744"/>
          </a:xfrm>
          <a:prstGeom prst="roundRect">
            <a:avLst>
              <a:gd name="adj" fmla="val 25000"/>
            </a:avLst>
          </a:prstGeom>
          <a:solidFill>
            <a:srgbClr val="6366F1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366F1"/>
                </a:solidFill>
                <a:latin typeface="Arial"/>
              </a:rPr>
              <a:t>v1.0+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Alert Boxes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F59E0B">
              <a:lumMod val="25000"/>
              <a:lumOff val="75000"/>
            </a:srgbClr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9E0B"/>
                </a:solidFill>
                <a:latin typeface="Arial"/>
              </a:rPr>
              <a:t>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INFO ALERT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411480"/>
          </a:xfrm>
          <a:prstGeom prst="roundRect">
            <a:avLst>
              <a:gd name="adj" fmla="val 15000"/>
            </a:avLst>
          </a:prstGeom>
          <a:solidFill>
            <a:srgbClr val="6366F1">
              <a:lumMod val="20000"/>
              <a:lumOff val="80000"/>
            </a:srgbClr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6366F1"/>
                </a:solidFill>
                <a:latin typeface="Arial"/>
              </a:rPr>
              <a:t>  ℹ️  Info: This is an informational message for the user.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SUCCESS ALERT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10881360" cy="41148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81B29A"/>
                </a:solidFill>
                <a:latin typeface="Arial"/>
              </a:rPr>
              <a:t>  ✓  Success: Operation completed successfully!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WARNING ALERT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00400"/>
            <a:ext cx="10881360" cy="411480"/>
          </a:xfrm>
          <a:prstGeom prst="roundRect">
            <a:avLst>
              <a:gd name="adj" fmla="val 15000"/>
            </a:avLst>
          </a:prstGeom>
          <a:solidFill>
            <a:srgbClr val="F59E0B">
              <a:lumMod val="20000"/>
              <a:lumOff val="80000"/>
            </a:srgbClr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F59E0B"/>
                </a:solidFill>
                <a:latin typeface="Arial"/>
              </a:rPr>
              <a:t>  ⚠️  Warning: Please review before proceeding.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ERROR ALERT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14800"/>
            <a:ext cx="10881360" cy="411480"/>
          </a:xfrm>
          <a:prstGeom prst="roundRect">
            <a:avLst>
              <a:gd name="adj" fmla="val 15000"/>
            </a:avLst>
          </a:prstGeom>
          <a:solidFill>
            <a:srgbClr val="EF4444">
              <a:lumMod val="20000"/>
              <a:lumOff val="80000"/>
            </a:srgbClr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EF4444"/>
                </a:solidFill>
                <a:latin typeface="Arial"/>
              </a:rPr>
              <a:t>  ✗  Error: Something went wrong. Please try again.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46320"/>
            <a:ext cx="10881360" cy="128016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983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Alert Usage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Use alerts sparingly for important messages: Info (blue) for tips, Success (green) for confirmations, Warning (yellow) for caution, Error (red) for failures.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Card Variants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81B29A">
              <a:lumMod val="25000"/>
              <a:lumOff val="75000"/>
            </a:srgbClr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1B29A"/>
                </a:solidFill>
                <a:latin typeface="Arial"/>
              </a:rPr>
              <a:t>CONTAINERS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Basic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Default card with neutral styling. Use for general content containers.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8872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B262C"/>
          </a:solidFill>
          <a:ln w="12700">
            <a:solidFill>
              <a:srgbClr val="4A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258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1B29A"/>
                </a:solidFill>
              </a:rPr>
              <a:t>Success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Green-tinted card for positive outcomes, confirmations, or completed states.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C241A"/>
          </a:solidFill>
          <a:ln w="12700">
            <a:solidFill>
              <a:srgbClr val="8A6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258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9E0B"/>
                </a:solidFill>
              </a:rPr>
              <a:t>Warning 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691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Yellow-tinted card for warnings, cautions, or items needing attention.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6324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A1C2E"/>
          </a:solidFill>
          <a:ln w="12700">
            <a:solidFill>
              <a:srgbClr val="4A4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Info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Blue-tinted card for informational content, tips, or documentation.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06324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C1A1A"/>
          </a:solidFill>
          <a:ln w="12700">
            <a:solidFill>
              <a:srgbClr val="8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20040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F4444"/>
                </a:solidFill>
              </a:rPr>
              <a:t>Error 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5661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Red-tinted card for errors, failures, or critical issues.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06324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20040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Card Tinting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520440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Background: accent at 8% opacity
Border: accent at 30% opacity
Use sparingly for emphasis.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Resource Cards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366F1">
              <a:lumMod val="25000"/>
              <a:lumOff val="75000"/>
            </a:srgbClr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366F1"/>
                </a:solidFill>
                <a:latin typeface="Arial"/>
              </a:rPr>
              <a:t>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303520" cy="777240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6366F1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417320"/>
            <a:ext cx="3931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91640"/>
            <a:ext cx="3931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Consolas"/>
              </a:rPr>
              <a:t>docs.rift.dev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50876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03520" cy="777240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8B5CF6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1417320"/>
            <a:ext cx="3931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GitHub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691640"/>
            <a:ext cx="3931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Consolas"/>
              </a:rPr>
              <a:t>github.com/rift-proxy/rift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150876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240280"/>
            <a:ext cx="5303520" cy="777240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23774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81B29A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2377440"/>
            <a:ext cx="3931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Docker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651760"/>
            <a:ext cx="3931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Consolas"/>
              </a:rPr>
              <a:t>hub.docker.com/r/rift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46888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240280"/>
            <a:ext cx="5303520" cy="777240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5080" y="23774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E07A5F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377440"/>
            <a:ext cx="3931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API Reference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651760"/>
            <a:ext cx="3931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Consolas"/>
              </a:rPr>
              <a:t>api.rift.dev/v1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246888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291840"/>
            <a:ext cx="10881360" cy="118872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4290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Resource Card Pattern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749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Use for external links, documentation, downloads, or navigation. Includes icon placeholder, title, URL/description, and arrow indicator.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Icon Library (69 Icons) - Page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07A5F">
              <a:lumMod val="25000"/>
              <a:lumOff val="75000"/>
            </a:srgbClr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07A5F"/>
                </a:solidFill>
                <a:latin typeface="Arial"/>
              </a:rPr>
              <a:t>SVG ASSETS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E07A5F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07A5F"/>
                </a:solidFill>
              </a:rPr>
              <a:t>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rust-gear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1B29A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checkmark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1B29A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checkmark-circle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EF4444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x-mark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EF4444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x-circle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E07A5F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07A5F"/>
                </a:solidFill>
              </a:rPr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rocket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F59E0B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59E0B"/>
                </a:solidFill>
              </a:rP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lightning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F59E0B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59E0B"/>
                </a:solidFill>
              </a:rPr>
              <a:t>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zap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1B29A"/>
                </a:solidFill>
              </a:rPr>
              <a:t>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target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44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6366F1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44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366F1"/>
                </a:solidFill>
              </a:rPr>
              <a:t>{ 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code-brackets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1B29A"/>
                </a:solidFill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terminal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00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6366F1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00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366F1"/>
                </a:solidFill>
              </a:rPr>
              <a:t>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search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B5CF6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B5CF6"/>
                </a:solidFill>
              </a:rPr>
              <a:t>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97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chart-bar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86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F59E0B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86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59E0B"/>
                </a:solidFill>
              </a:rPr>
              <a:t>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warning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6366F1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366F1"/>
                </a:solidFill>
              </a:rPr>
              <a:t>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83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info-circle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F59E0B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59E0B"/>
                </a:solidFill>
              </a:rPr>
              <a:t>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folder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6366F1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366F1"/>
                </a:solidFill>
              </a:rPr>
              <a:t>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file-code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58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B5CF6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58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B5CF6"/>
                </a:solidFill>
              </a:rPr>
              <a:t>⊞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filter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01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E07A5F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01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07A5F"/>
                </a:solidFill>
              </a:rPr>
              <a:t>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clock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744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B5CF6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44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B5CF6"/>
                </a:solidFill>
              </a:rPr>
              <a:t>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98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database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3840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</a:rPr>
              <a:t>Actual SVG icons are in presentation-assets/icons/. Import via Insert → Image in Google Slides.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Icon Library (69 Icons) - Page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07A5F">
              <a:lumMod val="25000"/>
              <a:lumOff val="75000"/>
            </a:srgbClr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07A5F"/>
                </a:solidFill>
                <a:latin typeface="Arial"/>
              </a:rPr>
              <a:t>SVG ASSETS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E07A5F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07A5F"/>
                </a:solidFill>
              </a:rPr>
              <a:t>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settings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1B29A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arrow-right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1B29A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play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F59E0B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59E0B"/>
                </a:solidFill>
              </a:rPr>
              <a:t>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star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1B29A"/>
                </a:solidFill>
              </a:rPr>
              <a:t>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shield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B5CF6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B5CF6"/>
                </a:solidFill>
              </a:rPr>
              <a:t>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layers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6366F1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366F1"/>
                </a:solidFill>
              </a:rPr>
              <a:t>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link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E07A5F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07A5F"/>
                </a:solidFill>
              </a:rPr>
              <a:t>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server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1B29A"/>
                </a:solidFill>
              </a:rPr>
              <a:t>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cpu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44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E07A5F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44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07A5F"/>
                </a:solidFill>
              </a:rPr>
              <a:t>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speedometer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6366F1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366F1"/>
                </a:solidFill>
              </a:rPr>
              <a:t>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package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00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E07A5F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00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07A5F"/>
                </a:solidFill>
              </a:rPr>
              <a:t>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wrench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1B29A"/>
                </a:solidFill>
              </a:rPr>
              <a:t>$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97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dollar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86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B5CF6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86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B5CF6"/>
                </a:solidFill>
              </a:rPr>
              <a:t>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monitor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E07A5F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07A5F"/>
                </a:solidFill>
              </a:rPr>
              <a:t>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83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git-branch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1B29A"/>
                </a:solidFill>
              </a:rPr>
              <a:t>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number-1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6366F1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366F1"/>
                </a:solidFill>
              </a:rPr>
              <a:t>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number-2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58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B5CF6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58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B5CF6"/>
                </a:solidFill>
              </a:rPr>
              <a:t>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number-3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01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E07A5F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01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07A5F"/>
                </a:solidFill>
              </a:rPr>
              <a:t>④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number-4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744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E07A5F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44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07A5F"/>
                </a:solidFill>
              </a:rPr>
              <a:t>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98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github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Icon Library (69 Icons) - Page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81B29A">
              <a:lumMod val="25000"/>
              <a:lumOff val="75000"/>
            </a:srgbClr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1B29A"/>
                </a:solidFill>
                <a:latin typeface="Arial"/>
              </a:rPr>
              <a:t>NEW ICONS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6366F1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366F1"/>
                </a:solidFill>
              </a:rPr>
              <a:t>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6366F1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366F1"/>
                </a:solidFill>
              </a:rPr>
              <a:t>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kubernetes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6366F1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366F1"/>
                </a:solidFill>
              </a:rPr>
              <a:t>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cloud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B5CF6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B5CF6"/>
                </a:solidFill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1B29A"/>
                </a:solidFill>
              </a:rP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user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1B29A"/>
                </a:solidFill>
              </a:rPr>
              <a:t>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users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6366F1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366F1"/>
                </a:solidFill>
              </a:rPr>
              <a:t>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mail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F59E0B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59E0B"/>
                </a:solidFill>
              </a:rPr>
              <a:t>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bell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E07A5F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07A5F"/>
                </a:solidFill>
              </a:rPr>
              <a:t>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menu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44200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44200" y="1417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1B29A"/>
                </a:solidFill>
              </a:rPr>
              <a:t>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2029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home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6366F1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366F1"/>
                </a:solidFill>
              </a:rPr>
              <a:t>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globe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00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00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1B29A"/>
                </a:solidFill>
              </a:rPr>
              <a:t>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lock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EF4444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F4444"/>
                </a:solidFill>
              </a:rPr>
              <a:t>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97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unlock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86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F59E0B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86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59E0B"/>
                </a:solidFill>
              </a:rPr>
              <a:t>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key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B5CF6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B5CF6"/>
                </a:solidFill>
              </a:rPr>
              <a:t>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83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calendar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1B29A"/>
                </a:solidFill>
              </a:rPr>
              <a:t>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trending-up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EF4444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F4444"/>
                </a:solidFill>
              </a:rPr>
              <a:t>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trending-down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58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6366F1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58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366F1"/>
                </a:solidFill>
              </a:rPr>
              <a:t>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refresh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01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01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1B29A"/>
                </a:solidFill>
              </a:rPr>
              <a:t>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download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744200" y="24231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6366F1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44200" y="2651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366F1"/>
                </a:solidFill>
              </a:rPr>
              <a:t>⬆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98480" y="32644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upload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365760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EF4444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38862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F4444"/>
                </a:solidFill>
              </a:rPr>
              <a:t>🗑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449884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trash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600200" y="365760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F59E0B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00200" y="38862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59E0B"/>
                </a:solidFill>
              </a:rPr>
              <a:t>✏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54480" y="449884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edit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743200" y="365760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E07A5F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0" y="38862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07A5F"/>
                </a:solidFill>
              </a:rPr>
              <a:t>📋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97480" y="449884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copy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86200" y="365760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86200" y="38862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1B29A"/>
                </a:solidFill>
              </a:rPr>
              <a:t>☑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40480" y="449884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check-square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29200" y="365760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81B29A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29200" y="38862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1B29A"/>
                </a:solidFill>
              </a:rPr>
              <a:t>+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83480" y="449884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plus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172200" y="365760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EF4444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72200" y="38862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F4444"/>
                </a:solidFill>
              </a:rPr>
              <a:t>−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0" y="449884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minus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15200" y="365760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6366F1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0" y="38862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366F1"/>
                </a:solidFill>
              </a:rPr>
              <a:t>↗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69480" y="449884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external-link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458200" y="365760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EF4444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58200" y="38862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F4444"/>
                </a:solidFill>
              </a:rPr>
              <a:t>♥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12480" y="449884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heart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601200" y="365760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6366F1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01200" y="38862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366F1"/>
                </a:solidFill>
              </a:rPr>
              <a:t>💬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555480" y="449884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B7280"/>
                </a:solidFill>
              </a:rPr>
              <a:t>message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40080" y="4846320"/>
            <a:ext cx="10881360" cy="128016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2960" y="4983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Icon Categories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2960" y="53035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Tech: github, docker, kubernetes, cloud, api  |  Users: user, users  |  Communication: mail, bell, message
Navigation: home, menu, globe, external-link  |  Security: lock, unlock, key, shield  |  Actions: edit, copy, trash, download, upload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Typography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8B5CF6">
              <a:lumMod val="25000"/>
              <a:lumOff val="7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B5CF6"/>
                </a:solidFill>
                <a:latin typeface="Arial"/>
              </a:rPr>
              <a:t>FONTS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Heading 1 - Bold 60pt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Heading 2 - Semi-Bold 36pt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07A5F"/>
                </a:solidFill>
              </a:rPr>
              <a:t>Heading 3 - Semi-Bold 24pt (Accent Color)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CA3AF"/>
                </a:solidFill>
              </a:rPr>
              <a:t>Body Text - Regular 18pt (Secondary Color)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B7280"/>
                </a:solidFill>
              </a:rPr>
              <a:t>Small Text - Regular 14pt (Muted Color)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LABEL TEXT - MEDIUM 12PT UPPERCASE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07A5F"/>
                </a:solidFill>
                <a:latin typeface="Consolas"/>
              </a:rPr>
              <a:t>Code Text - Monospace 14pt (Coral)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188720"/>
            <a:ext cx="3749039" cy="41148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32588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Font 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1645920"/>
            <a:ext cx="3383279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Primary: Roboto / Arial
Mono: Roboto Mono / Consolas
Weights:
• 400 Regular - Body
• 500 Medium - Labels
• 600 Semi-Bold - H2, H3
• 700 Bold - H1, Stats
Colors:
• #FFFFFF - Headings
• #9CA3AF - Body
• #6B7280 - Muted
• #E07A5F - Code/Accent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Two-Column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6366F1">
              <a:lumMod val="25000"/>
              <a:lumOff val="75000"/>
            </a:srgbClr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366F1"/>
                </a:solidFill>
                <a:latin typeface="Arial"/>
              </a:rPr>
              <a:t>LAYOUT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Left Column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9377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Use for:
• Text + Image
• Before/After
• Problem/Solution
• Feature descriptions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Right Column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9377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Complementary content:
• Supporting visuals
• Code examples
• Diagrams
• Statistics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Three-Column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8B5CF6">
              <a:lumMod val="25000"/>
              <a:lumOff val="7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B5CF6"/>
                </a:solidFill>
                <a:latin typeface="Arial"/>
              </a:rPr>
              <a:t>LAYOUT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Column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1546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First point or feature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74320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880360"/>
            <a:ext cx="1097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E07A5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3375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88720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32588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Column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1546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Second point or feature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74320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880360"/>
            <a:ext cx="1097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81B29A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3375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STEP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188720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9" y="132588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Column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1645920"/>
            <a:ext cx="31546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Third point or feature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39" y="274320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39" y="2880360"/>
            <a:ext cx="1097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39" y="33375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STEP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Timeline /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81B29A">
              <a:lumMod val="25000"/>
              <a:lumOff val="75000"/>
            </a:srgbClr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1B29A"/>
                </a:solidFill>
                <a:latin typeface="Arial"/>
              </a:rPr>
              <a:t>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00400"/>
            <a:ext cx="10881360" cy="38100"/>
          </a:xfrm>
          <a:prstGeom prst="rect">
            <a:avLst/>
          </a:prstGeom>
          <a:solidFill>
            <a:srgbClr val="2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0" y="3108960"/>
            <a:ext cx="228600" cy="22860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07A5F"/>
                </a:solidFill>
              </a:rPr>
              <a:t>Q1 2024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66160"/>
            <a:ext cx="2560320" cy="164592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69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Market analysis and requirements gathering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3108960"/>
            <a:ext cx="228600" cy="228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6517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6366F1"/>
                </a:solidFill>
              </a:rPr>
              <a:t>Q2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3566160"/>
            <a:ext cx="2560320" cy="164592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7033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4069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Core feature implementation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0" y="3108960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6517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B5CF6"/>
                </a:solidFill>
              </a:rPr>
              <a:t>Q3 2024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566160"/>
            <a:ext cx="2560320" cy="164592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7033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Beta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069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Testing and iteration</a:t>
            </a:r>
          </a:p>
        </p:txBody>
      </p:sp>
      <p:sp>
        <p:nvSpPr>
          <p:cNvPr id="21" name="Oval 20"/>
          <p:cNvSpPr/>
          <p:nvPr/>
        </p:nvSpPr>
        <p:spPr>
          <a:xfrm>
            <a:off x="10332720" y="3108960"/>
            <a:ext cx="228600" cy="228600"/>
          </a:xfrm>
          <a:prstGeom prst="ellipse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6517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1B29A"/>
                </a:solidFill>
              </a:rPr>
              <a:t>Q4 2024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3566160"/>
            <a:ext cx="2560320" cy="164592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37033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Launch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4069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Public release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Process Flow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E07A5F">
              <a:lumMod val="25000"/>
              <a:lumOff val="75000"/>
            </a:srgbClr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07A5F"/>
                </a:solidFill>
                <a:latin typeface="Arial"/>
              </a:rPr>
              <a:t>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286000" cy="1371600"/>
          </a:xfrm>
          <a:prstGeom prst="roundRect">
            <a:avLst>
              <a:gd name="adj" fmla="val 15000"/>
            </a:avLst>
          </a:prstGeom>
          <a:solidFill>
            <a:srgbClr val="1E2235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1737360"/>
            <a:ext cx="640080" cy="640080"/>
          </a:xfrm>
          <a:prstGeom prst="ellipse">
            <a:avLst/>
          </a:prstGeom>
          <a:solidFill>
            <a:srgbClr val="6366F1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874519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366F1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</a:rPr>
              <a:t>Data received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17520" y="2834640"/>
            <a:ext cx="36576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2286000"/>
            <a:ext cx="2286000" cy="1371600"/>
          </a:xfrm>
          <a:prstGeom prst="roundRect">
            <a:avLst>
              <a:gd name="adj" fmla="val 15000"/>
            </a:avLst>
          </a:prstGeom>
          <a:solidFill>
            <a:srgbClr val="1E2235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7680" y="1737360"/>
            <a:ext cx="640080" cy="640080"/>
          </a:xfrm>
          <a:prstGeom prst="ellipse">
            <a:avLst/>
          </a:prstGeom>
          <a:solidFill>
            <a:srgbClr val="8B5C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874519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8B5CF6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4688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</a:rPr>
              <a:t>Transform &amp; validate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52160" y="2834640"/>
            <a:ext cx="36576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2286000"/>
            <a:ext cx="2286000" cy="1371600"/>
          </a:xfrm>
          <a:prstGeom prst="roundRect">
            <a:avLst>
              <a:gd name="adj" fmla="val 15000"/>
            </a:avLst>
          </a:prstGeom>
          <a:solidFill>
            <a:srgbClr val="1E2235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20" y="1737360"/>
            <a:ext cx="640080" cy="640080"/>
          </a:xfrm>
          <a:prstGeom prst="ellipse">
            <a:avLst/>
          </a:prstGeom>
          <a:solidFill>
            <a:srgbClr val="F59E0B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874519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688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</a:rPr>
              <a:t>Check conditions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686800" y="2834640"/>
            <a:ext cx="36576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0" y="2286000"/>
            <a:ext cx="2286000" cy="1371600"/>
          </a:xfrm>
          <a:prstGeom prst="roundRect">
            <a:avLst>
              <a:gd name="adj" fmla="val 15000"/>
            </a:avLst>
          </a:prstGeom>
          <a:solidFill>
            <a:srgbClr val="1E2235"/>
          </a:solidFill>
          <a:ln w="254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66960" y="1737360"/>
            <a:ext cx="640080" cy="640080"/>
          </a:xfrm>
          <a:prstGeom prst="ellipse">
            <a:avLst/>
          </a:prstGeom>
          <a:solidFill>
            <a:srgbClr val="81B29A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1874519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81B29A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4688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</a:rPr>
              <a:t>Return result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114800"/>
            <a:ext cx="10881360" cy="164592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251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Flow Diagram Usage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572000"/>
            <a:ext cx="10515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Use arrows (→) to connect steps. Color-code by category: Blue for input, Purple for processing, Yellow for decisions, Green for output/success.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Architecture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8B5CF6">
              <a:lumMod val="25000"/>
              <a:lumOff val="7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B5CF6"/>
                </a:solidFill>
                <a:latin typeface="Arial"/>
              </a:rPr>
              <a:t>TECHNICAL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CLIENT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737360" cy="731520"/>
          </a:xfrm>
          <a:prstGeom prst="roundRect">
            <a:avLst>
              <a:gd name="adj" fmla="val 15000"/>
            </a:avLst>
          </a:prstGeom>
          <a:solidFill>
            <a:srgbClr val="1E22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Web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371600"/>
            <a:ext cx="1737360" cy="731520"/>
          </a:xfrm>
          <a:prstGeom prst="roundRect">
            <a:avLst>
              <a:gd name="adj" fmla="val 15000"/>
            </a:avLst>
          </a:prstGeom>
          <a:solidFill>
            <a:srgbClr val="1E22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Mobile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1737360" cy="731520"/>
          </a:xfrm>
          <a:prstGeom prst="roundRect">
            <a:avLst>
              <a:gd name="adj" fmla="val 15000"/>
            </a:avLst>
          </a:prstGeom>
          <a:solidFill>
            <a:srgbClr val="1E22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API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577840" cy="731520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 w="254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07A5F"/>
                </a:solidFill>
              </a:rPr>
              <a:t>API Gateway / Load Balancer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SERVICE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39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1E2235"/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Auth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749039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1E22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User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749039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1E2235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Data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DATA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252836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9CA3AF"/>
                </a:solidFill>
              </a:rPr>
              <a:t>🗄 PostgreSQL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5029200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252836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9CA3AF"/>
                </a:solidFill>
              </a:rPr>
              <a:t>⚡ Redis Cache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5029200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252836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9CA3AF"/>
                </a:solidFill>
              </a:rPr>
              <a:t>📦 S3 Storage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371600"/>
            <a:ext cx="4937760" cy="448056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508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Architecture Legend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828800"/>
            <a:ext cx="45720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Layer Colors:
• Blue - Client/Frontend
• Coral - Gateway/Infrastructure
• Green - Authentication
• Purple - Core Services
• Gray - Data Storage
Arrows indicate data flow direction.
Dashed lines for async communication.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Dashboard / Metrics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81B29A">
              <a:lumMod val="25000"/>
              <a:lumOff val="75000"/>
            </a:srgbClr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1B29A"/>
                </a:solidFill>
                <a:latin typeface="Arial"/>
              </a:rPr>
              <a:t>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TOTAL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12,458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6916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1B29A"/>
                </a:solidFill>
              </a:rPr>
              <a:t>+12%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18872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280160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5544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$84.2K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6916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07A5F"/>
                </a:solidFill>
              </a:rPr>
              <a:t>+8%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8872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280160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CONVERSION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5544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3.24%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6916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F4444"/>
                </a:solidFill>
              </a:rPr>
              <a:t>-2%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18872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280160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UPTIME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5544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99.9%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16916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60320"/>
            <a:ext cx="7132320" cy="3383280"/>
          </a:xfrm>
          <a:prstGeom prst="roundRect">
            <a:avLst>
              <a:gd name="adj" fmla="val 4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6974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Performance Over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206240"/>
            <a:ext cx="548640" cy="137160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920240" y="3749039"/>
            <a:ext cx="548640" cy="182880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43200" y="4434840"/>
            <a:ext cx="548640" cy="114300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66160" y="3520439"/>
            <a:ext cx="548640" cy="205740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89120" y="3977639"/>
            <a:ext cx="548640" cy="160020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212080" y="3291839"/>
            <a:ext cx="548640" cy="228600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35040" y="3634739"/>
            <a:ext cx="548640" cy="194310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0" y="2560320"/>
            <a:ext cx="3474720" cy="338328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26974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Recent Activity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017520"/>
            <a:ext cx="31089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• User signed up (2m ago)
• Payment received (5m ago)
• Report generated (12m ago)
• API key created (1h ago)
• Settings updated (2h ago)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Pricing Cards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07A5F">
              <a:lumMod val="25000"/>
              <a:lumOff val="75000"/>
            </a:srgbClr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07A5F"/>
                </a:solidFill>
                <a:latin typeface="Arial"/>
              </a:rPr>
              <a:t>SALES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3520440" cy="475488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3154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6366F1"/>
                </a:solidFill>
              </a:rP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</a:rPr>
              <a:t>Free forever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1B29A"/>
                </a:solidFill>
              </a:rPr>
              <a:t>✓  5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✓  1GB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✓  Community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✓  Basic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303520"/>
            <a:ext cx="2788920" cy="411480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366F1"/>
                </a:solidFill>
              </a:rPr>
              <a:t>Get Started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188720"/>
            <a:ext cx="3520440" cy="4754880"/>
          </a:xfrm>
          <a:prstGeom prst="roundRect">
            <a:avLst>
              <a:gd name="adj" fmla="val 5000"/>
            </a:avLst>
          </a:prstGeom>
          <a:solidFill>
            <a:srgbClr val="E07A5F">
              <a:lumMod val="15000"/>
              <a:lumOff val="85000"/>
            </a:srgbClr>
          </a:solidFill>
          <a:ln w="254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94960" y="100584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POPULAR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37160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783080"/>
            <a:ext cx="3154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E07A5F"/>
                </a:solidFill>
              </a:rPr>
              <a:t>$29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31720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</a:rPr>
              <a:t>per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83464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1B29A"/>
                </a:solidFill>
              </a:rPr>
              <a:t>✓  Unlimited projects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20040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✓  100GB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56616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✓  Priority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93192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✓  Advanced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29768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✓  API access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5303520"/>
            <a:ext cx="2788920" cy="411480"/>
          </a:xfrm>
          <a:prstGeom prst="roundRect">
            <a:avLst>
              <a:gd name="adj" fmla="val 40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Get Started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1188720"/>
            <a:ext cx="3520440" cy="475488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39" y="137160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1783080"/>
            <a:ext cx="3154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8B5CF6"/>
                </a:solidFill>
              </a:rPr>
              <a:t>Custom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2331720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</a:rPr>
              <a:t>Contact 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9" y="283464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1B29A"/>
                </a:solidFill>
              </a:rPr>
              <a:t>✓  Everything in Pro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9" y="320040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✓  Unlimited 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9" y="356616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✓  Dedicated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9" y="393192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✓  Custom integrations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9" y="429768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✓  SLA guarantee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19" y="5303520"/>
            <a:ext cx="2788920" cy="411480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8B5CF6"/>
                </a:solidFill>
              </a:rPr>
              <a:t>Get Started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Team / Profile Cards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81B29A">
              <a:lumMod val="25000"/>
              <a:lumOff val="75000"/>
            </a:srgbClr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1B29A"/>
                </a:solidFill>
                <a:latin typeface="Arial"/>
              </a:rPr>
              <a:t>ABOUT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417320"/>
            <a:ext cx="1005840" cy="1005840"/>
          </a:xfrm>
          <a:prstGeom prst="ellipse">
            <a:avLst/>
          </a:prstGeom>
          <a:solidFill>
            <a:srgbClr val="E07A5F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630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Alex Chen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28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07A5F"/>
                </a:solidFill>
              </a:rPr>
              <a:t>CEO &amp; Founder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4983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B7280"/>
                </a:solidFill>
              </a:rPr>
              <a:t>Building the future of service virtualization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29400" y="1417320"/>
            <a:ext cx="1005840" cy="1005840"/>
          </a:xfrm>
          <a:prstGeom prst="ellipse">
            <a:avLst/>
          </a:prstGeom>
          <a:solidFill>
            <a:srgbClr val="6366F1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00200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4630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Sarah Miller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828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366F1"/>
                </a:solidFill>
              </a:rPr>
              <a:t>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560320"/>
            <a:ext cx="4983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B7280"/>
                </a:solidFill>
              </a:rPr>
              <a:t>15+ years in distributed systems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4069080"/>
            <a:ext cx="1005840" cy="1005840"/>
          </a:xfrm>
          <a:prstGeom prst="ellipse">
            <a:avLst/>
          </a:prstGeom>
          <a:solidFill>
            <a:srgbClr val="8B5CF6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51960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1148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James Wilson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4805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B5CF6"/>
                </a:solidFill>
              </a:rPr>
              <a:t>Lead Engineer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212080"/>
            <a:ext cx="4983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B7280"/>
                </a:solidFill>
              </a:rPr>
              <a:t>Rust enthusiast and performance optimizer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84048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29400" y="4069080"/>
            <a:ext cx="1005840" cy="1005840"/>
          </a:xfrm>
          <a:prstGeom prst="ellipse">
            <a:avLst/>
          </a:prstGeom>
          <a:solidFill>
            <a:srgbClr val="81B29A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251960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1148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Emma Davis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4805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1B29A"/>
                </a:solidFill>
              </a:rPr>
              <a:t>Product Lead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212080"/>
            <a:ext cx="4983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B7280"/>
                </a:solidFill>
              </a:rPr>
              <a:t>User experience and developer tools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Testimonials / Quotes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682495" cy="292608"/>
          </a:xfrm>
          <a:prstGeom prst="roundRect">
            <a:avLst>
              <a:gd name="adj" fmla="val 50000"/>
            </a:avLst>
          </a:prstGeom>
          <a:solidFill>
            <a:srgbClr val="F59E0B">
              <a:lumMod val="25000"/>
              <a:lumOff val="75000"/>
            </a:srgbClr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9E0B"/>
                </a:solidFill>
                <a:latin typeface="Arial"/>
              </a:rPr>
              <a:t>SOCIAL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2286000"/>
          </a:xfrm>
          <a:prstGeom prst="roundRect">
            <a:avLst>
              <a:gd name="adj" fmla="val 3000"/>
            </a:avLst>
          </a:prstGeom>
          <a:solidFill>
            <a:srgbClr val="1E2235"/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>
                <a:solidFill>
                  <a:srgbClr val="E07A5F"/>
                </a:solidFill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087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FFFFFF"/>
                </a:solidFill>
              </a:rPr>
              <a:t>Switching to Rift reduced our CI pipeline time by 80%. The zero-config migration was incredible.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651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07A5F"/>
                </a:solidFill>
              </a:rPr>
              <a:t>— Mike Johnson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971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</a:rPr>
              <a:t>Platform Lead, TechCorp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49039"/>
            <a:ext cx="10881360" cy="2286000"/>
          </a:xfrm>
          <a:prstGeom prst="roundRect">
            <a:avLst>
              <a:gd name="adj" fmla="val 3000"/>
            </a:avLst>
          </a:prstGeom>
          <a:solidFill>
            <a:srgbClr val="1E2235"/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86199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>
                <a:solidFill>
                  <a:srgbClr val="81B29A"/>
                </a:solidFill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069079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FFFFFF"/>
                </a:solidFill>
              </a:rPr>
              <a:t>Finally, a mock server that can keep up with our load testing requirements.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21207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B29A"/>
                </a:solidFill>
              </a:rPr>
              <a:t>— Lisa Wang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5321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</a:rPr>
              <a:t>QA Director, FastScale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FAQ / Accordion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6366F1">
              <a:lumMod val="25000"/>
              <a:lumOff val="75000"/>
            </a:srgbClr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366F1"/>
                </a:solidFill>
                <a:latin typeface="Arial"/>
              </a:rPr>
              <a:t>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10881360" cy="100584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0700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366F1"/>
                </a:solidFill>
              </a:rPr>
              <a:t>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20700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Is Rift really a drop-in replacement?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002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Yes! Rift is fully compatible with Mountebank's REST API and configuration format. Just change your Docker image.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95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366F1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9572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What about JavaScript behaviors?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8444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366F1"/>
                </a:solidFill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844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How does licensing work?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63440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7316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366F1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77316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Can I use it with Kubernetes?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Progress Indicators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572767" cy="292608"/>
          </a:xfrm>
          <a:prstGeom prst="roundRect">
            <a:avLst>
              <a:gd name="adj" fmla="val 50000"/>
            </a:avLst>
          </a:prstGeom>
          <a:solidFill>
            <a:srgbClr val="8B5CF6">
              <a:lumMod val="25000"/>
              <a:lumOff val="7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B5CF6"/>
                </a:solidFill>
                <a:latin typeface="Arial"/>
              </a:rPr>
              <a:t>UI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PROGRESS BARS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Migration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6304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07A5F"/>
                </a:solidFill>
              </a:rPr>
              <a:t>75%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55648"/>
            <a:ext cx="5029200" cy="228600"/>
          </a:xfrm>
          <a:prstGeom prst="roundRect">
            <a:avLst>
              <a:gd name="adj" fmla="val 50000"/>
            </a:avLst>
          </a:prstGeom>
          <a:solidFill>
            <a:srgbClr val="25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55648"/>
            <a:ext cx="3771900" cy="22860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Test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24028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1B29A"/>
                </a:solidFill>
              </a:rPr>
              <a:t>92%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32888"/>
            <a:ext cx="5029200" cy="228600"/>
          </a:xfrm>
          <a:prstGeom prst="roundRect">
            <a:avLst>
              <a:gd name="adj" fmla="val 50000"/>
            </a:avLst>
          </a:prstGeom>
          <a:solidFill>
            <a:srgbClr val="25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532888"/>
            <a:ext cx="4626864" cy="228600"/>
          </a:xfrm>
          <a:prstGeom prst="roundRect">
            <a:avLst>
              <a:gd name="adj" fmla="val 50000"/>
            </a:avLst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01752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366F1"/>
                </a:solidFill>
              </a:rPr>
              <a:t>68%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10128"/>
            <a:ext cx="5029200" cy="228600"/>
          </a:xfrm>
          <a:prstGeom prst="roundRect">
            <a:avLst>
              <a:gd name="adj" fmla="val 50000"/>
            </a:avLst>
          </a:prstGeom>
          <a:solidFill>
            <a:srgbClr val="25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310128"/>
            <a:ext cx="3419856" cy="2286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9476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7947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B5CF6"/>
                </a:solidFill>
              </a:rPr>
              <a:t>45%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87368"/>
            <a:ext cx="5029200" cy="228600"/>
          </a:xfrm>
          <a:prstGeom prst="roundRect">
            <a:avLst>
              <a:gd name="adj" fmla="val 50000"/>
            </a:avLst>
          </a:prstGeom>
          <a:solidFill>
            <a:srgbClr val="25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087368"/>
            <a:ext cx="2263140" cy="2286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097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CIRCULAR INDICATORS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1463040"/>
            <a:ext cx="1371600" cy="1371600"/>
          </a:xfrm>
          <a:prstGeom prst="ellipse">
            <a:avLst/>
          </a:prstGeom>
          <a:solidFill>
            <a:srgbClr val="252836"/>
          </a:solidFill>
          <a:ln w="762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783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81B29A"/>
                </a:solidFill>
              </a:rPr>
              <a:t>85%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9260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</a:rPr>
              <a:t>Health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0" y="1463040"/>
            <a:ext cx="1371600" cy="1371600"/>
          </a:xfrm>
          <a:prstGeom prst="ellipse">
            <a:avLst/>
          </a:prstGeom>
          <a:solidFill>
            <a:srgbClr val="252836"/>
          </a:solidFill>
          <a:ln w="762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783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07A5F"/>
                </a:solidFill>
              </a:rPr>
              <a:t>62%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9260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</a:rPr>
              <a:t>Load</a:t>
            </a:r>
          </a:p>
        </p:txBody>
      </p:sp>
      <p:sp>
        <p:nvSpPr>
          <p:cNvPr id="29" name="Oval 28"/>
          <p:cNvSpPr/>
          <p:nvPr/>
        </p:nvSpPr>
        <p:spPr>
          <a:xfrm>
            <a:off x="10058400" y="1463040"/>
            <a:ext cx="1371600" cy="1371600"/>
          </a:xfrm>
          <a:prstGeom prst="ellipse">
            <a:avLst/>
          </a:prstGeom>
          <a:solidFill>
            <a:srgbClr val="252836"/>
          </a:solidFill>
          <a:ln w="762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0" y="1783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366F1"/>
                </a:solidFill>
              </a:rPr>
              <a:t>94%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9260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</a:rPr>
              <a:t>Uptime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5720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STEP INDICATORS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983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440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CA3AF"/>
                </a:solidFill>
              </a:rPr>
              <a:t>Setup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5138928"/>
            <a:ext cx="1737360" cy="38100"/>
          </a:xfrm>
          <a:prstGeom prst="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926080" y="4937760"/>
            <a:ext cx="457200" cy="457200"/>
          </a:xfrm>
          <a:prstGeom prst="ellipse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0" y="4983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5440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CA3AF"/>
                </a:solidFill>
              </a:rPr>
              <a:t>Configure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9000" y="5138928"/>
            <a:ext cx="1737360" cy="38100"/>
          </a:xfrm>
          <a:prstGeom prst="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212080" y="493776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0" y="4983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83480" y="5440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CA3AF"/>
                </a:solidFill>
              </a:rPr>
              <a:t>Test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15000" y="5138928"/>
            <a:ext cx="1737360" cy="38100"/>
          </a:xfrm>
          <a:prstGeom prst="rect">
            <a:avLst/>
          </a:prstGeom>
          <a:solidFill>
            <a:srgbClr val="25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498079" y="4937760"/>
            <a:ext cx="457200" cy="457200"/>
          </a:xfrm>
          <a:prstGeom prst="ellipse">
            <a:avLst/>
          </a:prstGeom>
          <a:solidFill>
            <a:srgbClr val="25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79" y="4983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79" y="5440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</a:rPr>
              <a:t>Deploy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Callouts &amp; Blockquotes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F59E0B">
              <a:lumMod val="25000"/>
              <a:lumOff val="75000"/>
            </a:srgbClr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9E0B"/>
                </a:solidFill>
                <a:latin typeface="Arial"/>
              </a:rPr>
              <a:t>EMPHASIS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CALLOUT BOXES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6366F1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4864" cy="8686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5270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366F1"/>
                </a:solidFill>
              </a:rPr>
              <a:t>Tip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CA3AF"/>
                </a:solidFill>
              </a:rPr>
              <a:t>Use callouts to highlight important information that readers shouldn't miss.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6888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59E0B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468880"/>
            <a:ext cx="54864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603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57860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</a:rPr>
              <a:t>Warning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8036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CA3AF"/>
                </a:solidFill>
              </a:rPr>
              <a:t>Callouts with warning styling draw attention to potential issues.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8B5CF6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20439"/>
            <a:ext cx="54864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11879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630167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B5CF6"/>
                </a:solidFill>
              </a:rPr>
              <a:t>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31919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CA3AF"/>
                </a:solidFill>
              </a:rPr>
              <a:t>Notes provide additional context without interrupting the main flow.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097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BLOCKQUOTE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41732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417320"/>
            <a:ext cx="73152" cy="18288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6002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FFFFFF"/>
                </a:solidFill>
              </a:rPr>
              <a:t>"The best code is no code at all. The second best is code that's easy to delete."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74320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</a:rPr>
              <a:t>— tef, Programming is Terrible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474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HIGHLIGHT BOX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794760"/>
            <a:ext cx="5120640" cy="1188720"/>
          </a:xfrm>
          <a:prstGeom prst="roundRect">
            <a:avLst>
              <a:gd name="adj" fmla="val 8000"/>
            </a:avLst>
          </a:prstGeom>
          <a:solidFill>
            <a:srgbClr val="81B29A">
              <a:lumMod val="20000"/>
              <a:lumOff val="80000"/>
            </a:srgbClr>
          </a:solidFill>
          <a:ln w="254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977639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1B29A"/>
                </a:solidFill>
              </a:rPr>
              <a:t>🎯 Key Takeaway
</a:t>
            </a:r>
          </a:p>
          <a:p>
            <a:r>
              <a:rPr sz="1100">
                <a:solidFill>
                  <a:srgbClr val="FFFFFF"/>
                </a:solidFill>
              </a:rPr>
              <a:t>Rift provides 20-250x faster performance with zero configuration changes required.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List Styles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6366F1">
              <a:lumMod val="25000"/>
              <a:lumOff val="75000"/>
            </a:srgbClr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366F1"/>
                </a:solidFill>
                <a:latin typeface="Arial"/>
              </a:rPr>
              <a:t>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NUMBERED LIST WITH ICONS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35608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Install Rift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37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</a:rPr>
              <a:t>Download the Docker image or binary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304288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Point to configs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6060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</a:rPr>
              <a:t>Use your existing Mountebank configs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172968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Run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4747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</a:rPr>
              <a:t>Execute your test suite as normal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023359"/>
            <a:ext cx="457200" cy="45720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690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041647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Enjoy speed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4339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</a:rPr>
              <a:t>Experience 20-250x faster mocks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097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CHECKLIST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41732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3990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14630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Docker installed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92024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90195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1965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Mountebank configs ready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42316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40487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468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CI/CD pipeline configured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926080"/>
            <a:ext cx="320040" cy="32004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2971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Performance baseline recorded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429000"/>
            <a:ext cx="320040" cy="32004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474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Team notified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114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BULLET LIST</a:t>
            </a:r>
          </a:p>
        </p:txBody>
      </p:sp>
      <p:sp>
        <p:nvSpPr>
          <p:cNvPr id="37" name="Oval 36"/>
          <p:cNvSpPr/>
          <p:nvPr/>
        </p:nvSpPr>
        <p:spPr>
          <a:xfrm>
            <a:off x="6217920" y="4507992"/>
            <a:ext cx="137160" cy="13716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4348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CA3AF"/>
                </a:solidFill>
              </a:rPr>
              <a:t>First bullet point</a:t>
            </a:r>
          </a:p>
        </p:txBody>
      </p:sp>
      <p:sp>
        <p:nvSpPr>
          <p:cNvPr id="39" name="Oval 38"/>
          <p:cNvSpPr/>
          <p:nvPr/>
        </p:nvSpPr>
        <p:spPr>
          <a:xfrm>
            <a:off x="6217920" y="4919472"/>
            <a:ext cx="137160" cy="137160"/>
          </a:xfrm>
          <a:prstGeom prst="ellipse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8463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CA3AF"/>
                </a:solidFill>
              </a:rPr>
              <a:t>Second bullet point</a:t>
            </a:r>
          </a:p>
        </p:txBody>
      </p:sp>
      <p:sp>
        <p:nvSpPr>
          <p:cNvPr id="41" name="Oval 40"/>
          <p:cNvSpPr/>
          <p:nvPr/>
        </p:nvSpPr>
        <p:spPr>
          <a:xfrm>
            <a:off x="6217920" y="5330952"/>
            <a:ext cx="137160" cy="1371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257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CA3AF"/>
                </a:solidFill>
              </a:rPr>
              <a:t>Third bullet point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Stat Box Variants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E07A5F">
              <a:lumMod val="25000"/>
              <a:lumOff val="75000"/>
            </a:srgbClr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07A5F"/>
                </a:solidFill>
                <a:latin typeface="Arial"/>
              </a:rPr>
              <a:t>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E07A5F"/>
                </a:solidFill>
                <a:latin typeface="Arial"/>
              </a:rPr>
              <a:t>250x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SPEEDUP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28016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41732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81B29A"/>
                </a:solidFill>
                <a:latin typeface="Arial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14884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COVERAGE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28016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41732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  <a:latin typeface="Arial"/>
              </a:rPr>
              <a:t>674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14884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STUBS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28016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41732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8B5CF6"/>
                </a:solidFill>
                <a:latin typeface="Arial"/>
              </a:rPr>
              <a:t>~50MB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14884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9840" y="1280160"/>
            <a:ext cx="1371600" cy="118872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0" y="141732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59E0B"/>
                </a:solidFill>
                <a:latin typeface="Arial"/>
              </a:rPr>
              <a:t>&lt;1s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21488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STARTUP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743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LARGE STAT BOXES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063240"/>
            <a:ext cx="2926080" cy="146304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0040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81B29A"/>
                </a:solidFill>
                <a:latin typeface="Arial"/>
              </a:rPr>
              <a:t>39,127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0624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REQUESTS/SECOND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49039" y="3063240"/>
            <a:ext cx="2926080" cy="146304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320040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E07A5F"/>
                </a:solidFill>
                <a:latin typeface="Arial"/>
              </a:rPr>
              <a:t>1,914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20624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BASELINE RPS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3063240"/>
            <a:ext cx="2286000" cy="146304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  <a:latin typeface="Arial"/>
              </a:rPr>
              <a:t>20x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206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MIN IMPROVEMENT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3063240"/>
            <a:ext cx="2194560" cy="146304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320040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8B5CF6"/>
                </a:solidFill>
                <a:latin typeface="Arial"/>
              </a:rPr>
              <a:t>247x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20624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MAX IMPROVEMENT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892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Stat Box Guidelines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• Use accent colors to indicate meaning (green=positive, red=negative, coral=primary metrics)
• Keep values concise (use abbreviations: 39K instead of 39,127 for compact displays)
• Labels should be uppercase and brief (1-2 words)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SWOT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8B5CF6">
              <a:lumMod val="25000"/>
              <a:lumOff val="7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B5CF6"/>
                </a:solidFill>
                <a:latin typeface="Arial"/>
              </a:rPr>
              <a:t>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440680" cy="2468880"/>
          </a:xfrm>
          <a:prstGeom prst="roundRect">
            <a:avLst>
              <a:gd name="adj" fmla="val 4000"/>
            </a:avLst>
          </a:prstGeom>
          <a:solidFill>
            <a:srgbClr val="81B29A">
              <a:lumMod val="15000"/>
              <a:lumOff val="85000"/>
            </a:srgbClr>
          </a:solidFill>
          <a:ln w="254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1B29A"/>
                </a:solidFill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716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• High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• Zero config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• Drop-in replacement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5440680" cy="2468880"/>
          </a:xfrm>
          <a:prstGeom prst="roundRect">
            <a:avLst>
              <a:gd name="adj" fmla="val 4000"/>
            </a:avLst>
          </a:prstGeom>
          <a:solidFill>
            <a:srgbClr val="F59E0B">
              <a:lumMod val="15000"/>
              <a:lumOff val="85000"/>
            </a:srgbClr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325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9E0B"/>
                </a:solidFill>
              </a:rPr>
              <a:t>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3716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Weaknesses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8288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• New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317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• Smaller community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8346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• Limited docs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5440680" cy="2468880"/>
          </a:xfrm>
          <a:prstGeom prst="roundRect">
            <a:avLst>
              <a:gd name="adj" fmla="val 4000"/>
            </a:avLst>
          </a:prstGeom>
          <a:solidFill>
            <a:srgbClr val="6366F1">
              <a:lumMod val="15000"/>
              <a:lumOff val="85000"/>
            </a:srgbClr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690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6366F1"/>
                </a:solidFill>
              </a:rP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14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Opportunities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• Growing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• Cloud-native trend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778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• CI/CD adoption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5440680" cy="2468880"/>
          </a:xfrm>
          <a:prstGeom prst="roundRect">
            <a:avLst>
              <a:gd name="adj" fmla="val 4000"/>
            </a:avLst>
          </a:prstGeom>
          <a:solidFill>
            <a:srgbClr val="EF4444">
              <a:lumMod val="15000"/>
              <a:lumOff val="85000"/>
            </a:srgbClr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0690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F4444"/>
                </a:solidFill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114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Threats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5720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• Established players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0749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• DIY solutions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5778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• Budget constraints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Funnel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07A5F">
              <a:lumMod val="25000"/>
              <a:lumOff val="75000"/>
            </a:srgbClr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07A5F"/>
                </a:solidFill>
                <a:latin typeface="Arial"/>
              </a:rPr>
              <a:t>CONVERSION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3847" y="1188720"/>
            <a:ext cx="9144000" cy="822960"/>
          </a:xfrm>
          <a:prstGeom prst="roundRect">
            <a:avLst>
              <a:gd name="adj" fmla="val 15000"/>
            </a:avLst>
          </a:prstGeom>
          <a:solidFill>
            <a:srgbClr val="6366F1">
              <a:lumMod val="70000"/>
              <a:lumOff val="30000"/>
            </a:srgbClr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98167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1847" y="1325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6366F1"/>
                </a:solidFill>
              </a:rPr>
              <a:t>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1847" y="1645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09647" y="2194560"/>
            <a:ext cx="7772400" cy="822960"/>
          </a:xfrm>
          <a:prstGeom prst="roundRect">
            <a:avLst>
              <a:gd name="adj" fmla="val 15000"/>
            </a:avLst>
          </a:prstGeom>
          <a:solidFill>
            <a:srgbClr val="8B5CF6">
              <a:lumMod val="70000"/>
              <a:lumOff val="30000"/>
            </a:srgbClr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3967" y="23774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6047" y="2331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8B5CF6"/>
                </a:solidFill>
              </a:rPr>
              <a:t>5,200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6047" y="2651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52%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5447" y="3200400"/>
            <a:ext cx="6400800" cy="822960"/>
          </a:xfrm>
          <a:prstGeom prst="roundRect">
            <a:avLst>
              <a:gd name="adj" fmla="val 15000"/>
            </a:avLst>
          </a:prstGeom>
          <a:solidFill>
            <a:srgbClr val="E07A5F">
              <a:lumMod val="70000"/>
              <a:lumOff val="30000"/>
            </a:srgbClr>
          </a:solidFill>
          <a:ln w="254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69767" y="33832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Consideration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33375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07A5F"/>
                </a:solidFill>
              </a:rPr>
              <a:t>2,800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247" y="3657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28%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81247" y="4206240"/>
            <a:ext cx="5029200" cy="822960"/>
          </a:xfrm>
          <a:prstGeom prst="roundRect">
            <a:avLst>
              <a:gd name="adj" fmla="val 15000"/>
            </a:avLst>
          </a:prstGeom>
          <a:solidFill>
            <a:srgbClr val="F59E0B">
              <a:lumMod val="70000"/>
              <a:lumOff val="30000"/>
            </a:srgbClr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55567" y="43891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Intent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43434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59E0B"/>
                </a:solidFill>
              </a:rPr>
              <a:t>1,400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663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14%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7047" y="5212080"/>
            <a:ext cx="3657600" cy="822960"/>
          </a:xfrm>
          <a:prstGeom prst="roundRect">
            <a:avLst>
              <a:gd name="adj" fmla="val 15000"/>
            </a:avLst>
          </a:prstGeom>
          <a:solidFill>
            <a:srgbClr val="81B29A">
              <a:lumMod val="70000"/>
              <a:lumOff val="30000"/>
            </a:srgbClr>
          </a:solidFill>
          <a:ln w="254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1367" y="5394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Purchase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38647" y="5349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81B29A"/>
                </a:solidFill>
              </a:rPr>
              <a:t>720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38647" y="5669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7.2%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Pyramid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F59E0B">
              <a:lumMod val="25000"/>
              <a:lumOff val="75000"/>
            </a:srgbClr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9E0B"/>
                </a:solidFill>
                <a:latin typeface="Arial"/>
              </a:rPr>
              <a:t>HIERARCHY</a:t>
            </a:r>
          </a:p>
        </p:txBody>
      </p:sp>
      <p:sp>
        <p:nvSpPr>
          <p:cNvPr id="5" name="Trapezoid 4"/>
          <p:cNvSpPr/>
          <p:nvPr/>
        </p:nvSpPr>
        <p:spPr>
          <a:xfrm>
            <a:off x="5180990" y="1371600"/>
            <a:ext cx="1828800" cy="1097280"/>
          </a:xfrm>
          <a:prstGeom prst="trapezoid">
            <a:avLst/>
          </a:prstGeom>
          <a:solidFill>
            <a:srgbClr val="E07A5F">
              <a:lumMod val="60000"/>
              <a:lumOff val="40000"/>
            </a:srgbClr>
          </a:solidFill>
          <a:ln w="254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0990" y="1691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Leadership</a:t>
            </a:r>
          </a:p>
        </p:txBody>
      </p:sp>
      <p:sp>
        <p:nvSpPr>
          <p:cNvPr id="7" name="Trapezoid 6"/>
          <p:cNvSpPr/>
          <p:nvPr/>
        </p:nvSpPr>
        <p:spPr>
          <a:xfrm>
            <a:off x="4266590" y="2606040"/>
            <a:ext cx="3657600" cy="1097280"/>
          </a:xfrm>
          <a:prstGeom prst="trapezoid">
            <a:avLst/>
          </a:prstGeom>
          <a:solidFill>
            <a:srgbClr val="6366F1">
              <a:lumMod val="60000"/>
              <a:lumOff val="40000"/>
            </a:srgbClr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6590" y="29260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Management</a:t>
            </a:r>
          </a:p>
        </p:txBody>
      </p:sp>
      <p:sp>
        <p:nvSpPr>
          <p:cNvPr id="9" name="Trapezoid 8"/>
          <p:cNvSpPr/>
          <p:nvPr/>
        </p:nvSpPr>
        <p:spPr>
          <a:xfrm>
            <a:off x="3352190" y="3840480"/>
            <a:ext cx="5486400" cy="1097280"/>
          </a:xfrm>
          <a:prstGeom prst="trapezoid">
            <a:avLst/>
          </a:prstGeom>
          <a:solidFill>
            <a:srgbClr val="8B5CF6">
              <a:lumMod val="60000"/>
              <a:lumOff val="40000"/>
            </a:srgbClr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2190" y="41605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Specialists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37790" y="5074920"/>
            <a:ext cx="7315200" cy="1097280"/>
          </a:xfrm>
          <a:prstGeom prst="roundRect">
            <a:avLst/>
          </a:prstGeom>
          <a:solidFill>
            <a:srgbClr val="81B29A">
              <a:lumMod val="60000"/>
              <a:lumOff val="40000"/>
            </a:srgbClr>
          </a:solidFill>
          <a:ln w="254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7790" y="5394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Team Members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371600"/>
            <a:ext cx="2834640" cy="438912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150876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Pyramid Usage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828800"/>
            <a:ext cx="24688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Show hierarchical relationships:
• Org structures
• Priority levels
• Maslow's hierarchy
• Value chain
• Skill levels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Venn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6366F1">
              <a:lumMod val="25000"/>
              <a:lumOff val="75000"/>
            </a:srgbClr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366F1"/>
                </a:solidFill>
                <a:latin typeface="Arial"/>
              </a:rPr>
              <a:t>OVERLAP</a:t>
            </a:r>
          </a:p>
        </p:txBody>
      </p:sp>
      <p:sp>
        <p:nvSpPr>
          <p:cNvPr id="5" name="Oval 4"/>
          <p:cNvSpPr/>
          <p:nvPr/>
        </p:nvSpPr>
        <p:spPr>
          <a:xfrm>
            <a:off x="3200400" y="2286000"/>
            <a:ext cx="3657600" cy="3200400"/>
          </a:xfrm>
          <a:prstGeom prst="ellipse">
            <a:avLst/>
          </a:prstGeom>
          <a:solidFill>
            <a:srgbClr val="E07A5F">
              <a:lumMod val="30000"/>
              <a:lumOff val="70000"/>
            </a:srgbClr>
          </a:solidFill>
          <a:ln w="381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0" y="2286000"/>
            <a:ext cx="3657600" cy="3200400"/>
          </a:xfrm>
          <a:prstGeom prst="ellipse">
            <a:avLst/>
          </a:prstGeom>
          <a:solidFill>
            <a:srgbClr val="6366F1">
              <a:lumMod val="30000"/>
              <a:lumOff val="70000"/>
            </a:srgbClr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4389120"/>
            <a:ext cx="3657600" cy="3200400"/>
          </a:xfrm>
          <a:prstGeom prst="ellipse">
            <a:avLst/>
          </a:prstGeom>
          <a:solidFill>
            <a:srgbClr val="81B29A">
              <a:lumMod val="30000"/>
              <a:lumOff val="70000"/>
            </a:srgbClr>
          </a:solidFill>
          <a:ln w="381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645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07A5F"/>
                </a:solidFill>
              </a:rP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645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Compatibility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5943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1B29A"/>
                </a:solidFill>
              </a:rPr>
              <a:t>Simplicity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657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Rift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Priority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81B29A">
              <a:lumMod val="25000"/>
              <a:lumOff val="75000"/>
            </a:srgbClr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1B29A"/>
                </a:solidFill>
                <a:latin typeface="Arial"/>
              </a:rPr>
              <a:t>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029200" cy="2468880"/>
          </a:xfrm>
          <a:prstGeom prst="roundRect">
            <a:avLst>
              <a:gd name="adj" fmla="val 5000"/>
            </a:avLst>
          </a:prstGeom>
          <a:solidFill>
            <a:srgbClr val="E07A5F">
              <a:lumMod val="20000"/>
              <a:lumOff val="80000"/>
            </a:srgbClr>
          </a:solidFill>
          <a:ln w="254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371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07A5F"/>
                </a:solidFill>
              </a:rPr>
              <a:t>Do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CA3AF"/>
                </a:solidFill>
              </a:rPr>
              <a:t>High priority, High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5029200" cy="2468880"/>
          </a:xfrm>
          <a:prstGeom prst="roundRect">
            <a:avLst>
              <a:gd name="adj" fmla="val 5000"/>
            </a:avLst>
          </a:prstGeom>
          <a:solidFill>
            <a:srgbClr val="6366F1">
              <a:lumMod val="20000"/>
              <a:lumOff val="80000"/>
            </a:srgbClr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371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366F1"/>
                </a:solidFill>
              </a:rPr>
              <a:t>Schedule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CA3AF"/>
                </a:solidFill>
              </a:rPr>
              <a:t>High priority, Low urgency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5029200" cy="2468880"/>
          </a:xfrm>
          <a:prstGeom prst="roundRect">
            <a:avLst>
              <a:gd name="adj" fmla="val 5000"/>
            </a:avLst>
          </a:prstGeom>
          <a:solidFill>
            <a:srgbClr val="F59E0B">
              <a:lumMod val="20000"/>
              <a:lumOff val="80000"/>
            </a:srgbClr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023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9E0B"/>
                </a:solidFill>
              </a:rPr>
              <a:t>Delegate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4805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CA3AF"/>
                </a:solidFill>
              </a:rPr>
              <a:t>Low priority, High urgency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840480"/>
            <a:ext cx="5029200" cy="2468880"/>
          </a:xfrm>
          <a:prstGeom prst="roundRect">
            <a:avLst>
              <a:gd name="adj" fmla="val 5000"/>
            </a:avLst>
          </a:prstGeom>
          <a:solidFill>
            <a:srgbClr val="EF4444">
              <a:lumMod val="20000"/>
              <a:lumOff val="80000"/>
            </a:srgbClr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023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F4444"/>
                </a:solidFill>
              </a:rPr>
              <a:t>Eliminate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4805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CA3AF"/>
                </a:solidFill>
              </a:rPr>
              <a:t>Low priority, Low urgency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3200400"/>
            <a:ext cx="457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URGENCY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IMPORTANCE →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Kanban 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366F1">
              <a:lumMod val="25000"/>
              <a:lumOff val="75000"/>
            </a:srgbClr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366F1"/>
                </a:solidFill>
                <a:latin typeface="Arial"/>
              </a:rPr>
              <a:t>AGILE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25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To Do (2)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73152" cy="8686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Research competitors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97480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73152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Define MVP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0972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25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17043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In Progress (2)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691640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691640"/>
            <a:ext cx="73152" cy="86868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Implement core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2697480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7560" y="2697480"/>
            <a:ext cx="73152" cy="868680"/>
          </a:xfrm>
          <a:prstGeom prst="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Write unit tests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0972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25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17043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Review (1)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691640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691640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Code review PR #42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0972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25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117043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Done (3)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1691640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98280" y="1691640"/>
            <a:ext cx="73152" cy="868680"/>
          </a:xfrm>
          <a:prstGeom prst="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Setup CI/CD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2697480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2697480"/>
            <a:ext cx="73152" cy="868680"/>
          </a:xfrm>
          <a:prstGeom prst="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Create repo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3703320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3703320"/>
            <a:ext cx="73152" cy="868680"/>
          </a:xfrm>
          <a:prstGeom prst="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Design system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Organization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81B29A">
              <a:lumMod val="25000"/>
              <a:lumOff val="75000"/>
            </a:srgbClr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1B29A"/>
                </a:solidFill>
                <a:latin typeface="Arial"/>
              </a:rPr>
              <a:t>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188720"/>
            <a:ext cx="2743200" cy="914400"/>
          </a:xfrm>
          <a:prstGeom prst="roundRect">
            <a:avLst>
              <a:gd name="adj" fmla="val 15000"/>
            </a:avLst>
          </a:prstGeom>
          <a:solidFill>
            <a:srgbClr val="1E2235"/>
          </a:solidFill>
          <a:ln w="254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3258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</a:rPr>
              <a:t>CEO
</a:t>
            </a:r>
            <a:r>
              <a:rPr sz="1400" b="1">
                <a:solidFill>
                  <a:srgbClr val="FFFFFF"/>
                </a:solidFill>
              </a:rPr>
              <a:t>Alex Chen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2103120"/>
            <a:ext cx="25400" cy="457200"/>
          </a:xfrm>
          <a:prstGeom prst="rect">
            <a:avLst/>
          </a:prstGeom>
          <a:solidFill>
            <a:srgbClr val="2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0" y="2514600"/>
            <a:ext cx="8229600" cy="25400"/>
          </a:xfrm>
          <a:prstGeom prst="rect">
            <a:avLst/>
          </a:prstGeom>
          <a:solidFill>
            <a:srgbClr val="2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48840" y="2514600"/>
            <a:ext cx="25400" cy="365760"/>
          </a:xfrm>
          <a:prstGeom prst="rect">
            <a:avLst/>
          </a:prstGeom>
          <a:solidFill>
            <a:srgbClr val="2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880360"/>
            <a:ext cx="2468880" cy="822960"/>
          </a:xfrm>
          <a:prstGeom prst="roundRect">
            <a:avLst>
              <a:gd name="adj" fmla="val 15000"/>
            </a:avLst>
          </a:prstGeom>
          <a:solidFill>
            <a:srgbClr val="1E22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</a:rPr>
              <a:t>CTO
</a:t>
            </a:r>
            <a:r>
              <a:rPr sz="1200" b="1">
                <a:solidFill>
                  <a:srgbClr val="FFFFFF"/>
                </a:solidFill>
              </a:rPr>
              <a:t>Sarah Miller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2514600"/>
            <a:ext cx="25400" cy="365760"/>
          </a:xfrm>
          <a:prstGeom prst="rect">
            <a:avLst/>
          </a:prstGeom>
          <a:solidFill>
            <a:srgbClr val="2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2880360"/>
            <a:ext cx="2468880" cy="822960"/>
          </a:xfrm>
          <a:prstGeom prst="roundRect">
            <a:avLst>
              <a:gd name="adj" fmla="val 15000"/>
            </a:avLst>
          </a:prstGeom>
          <a:solidFill>
            <a:srgbClr val="1E2235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97180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</a:rPr>
              <a:t>VP Product
</a:t>
            </a:r>
            <a:r>
              <a:rPr sz="1200" b="1">
                <a:solidFill>
                  <a:srgbClr val="FFFFFF"/>
                </a:solidFill>
              </a:rPr>
              <a:t>James Wilson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2514600"/>
            <a:ext cx="25400" cy="365760"/>
          </a:xfrm>
          <a:prstGeom prst="rect">
            <a:avLst/>
          </a:prstGeom>
          <a:solidFill>
            <a:srgbClr val="2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2880360"/>
            <a:ext cx="2468880" cy="822960"/>
          </a:xfrm>
          <a:prstGeom prst="roundRect">
            <a:avLst>
              <a:gd name="adj" fmla="val 15000"/>
            </a:avLst>
          </a:prstGeom>
          <a:solidFill>
            <a:srgbClr val="1E2235"/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97180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</a:rPr>
              <a:t>VP Sales
</a:t>
            </a:r>
            <a:r>
              <a:rPr sz="1200" b="1">
                <a:solidFill>
                  <a:srgbClr val="FFFFFF"/>
                </a:solidFill>
              </a:rPr>
              <a:t>Emma Davis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04119" y="2514600"/>
            <a:ext cx="25400" cy="365760"/>
          </a:xfrm>
          <a:prstGeom prst="rect">
            <a:avLst/>
          </a:prstGeom>
          <a:solidFill>
            <a:srgbClr val="2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69680" y="2880360"/>
            <a:ext cx="2468880" cy="822960"/>
          </a:xfrm>
          <a:prstGeom prst="roundRect">
            <a:avLst>
              <a:gd name="adj" fmla="val 15000"/>
            </a:avLst>
          </a:prstGeom>
          <a:solidFill>
            <a:srgbClr val="1E22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297180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</a:rPr>
              <a:t>CFO
</a:t>
            </a:r>
            <a:r>
              <a:rPr sz="1200" b="1">
                <a:solidFill>
                  <a:srgbClr val="FFFFFF"/>
                </a:solidFill>
              </a:rPr>
              <a:t>Mike Johnson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Mind 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8B5CF6">
              <a:lumMod val="25000"/>
              <a:lumOff val="7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B5CF6"/>
                </a:solidFill>
                <a:latin typeface="Arial"/>
              </a:rPr>
              <a:t>BRAINSTORM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2743200"/>
            <a:ext cx="2743200" cy="137160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31546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Rift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371600"/>
            <a:ext cx="2560320" cy="1645920"/>
          </a:xfrm>
          <a:prstGeom prst="roundRect">
            <a:avLst>
              <a:gd name="adj" fmla="val 15000"/>
            </a:avLst>
          </a:prstGeom>
          <a:solidFill>
            <a:srgbClr val="81B29A">
              <a:lumMod val="40000"/>
              <a:lumOff val="60000"/>
            </a:srgbClr>
          </a:solidFill>
          <a:ln w="254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5087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20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• 20-250x faster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31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• Native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71600"/>
            <a:ext cx="2560320" cy="1645920"/>
          </a:xfrm>
          <a:prstGeom prst="roundRect">
            <a:avLst>
              <a:gd name="adj" fmla="val 15000"/>
            </a:avLst>
          </a:prstGeom>
          <a:solidFill>
            <a:srgbClr val="6366F1">
              <a:lumMod val="40000"/>
              <a:lumOff val="60000"/>
            </a:srgbClr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5087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Compatibility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920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• Same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331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• Zero changes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2560320" cy="1645920"/>
          </a:xfrm>
          <a:prstGeom prst="roundRect">
            <a:avLst>
              <a:gd name="adj" fmla="val 15000"/>
            </a:avLst>
          </a:prstGeom>
          <a:solidFill>
            <a:srgbClr val="8B5CF6">
              <a:lumMod val="40000"/>
              <a:lumOff val="60000"/>
            </a:srgbClr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51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63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• Scripting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074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• Metrics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4114800"/>
            <a:ext cx="2560320" cy="1645920"/>
          </a:xfrm>
          <a:prstGeom prst="roundRect">
            <a:avLst>
              <a:gd name="adj" fmla="val 15000"/>
            </a:avLst>
          </a:prstGeom>
          <a:solidFill>
            <a:srgbClr val="F59E0B">
              <a:lumMod val="40000"/>
              <a:lumOff val="60000"/>
            </a:srgbClr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4251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4663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• rift-lint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5074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• rift-tui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Device Mockups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8B5CF6">
              <a:lumMod val="25000"/>
              <a:lumOff val="7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B5CF6"/>
                </a:solidFill>
                <a:latin typeface="Arial"/>
              </a:rPr>
              <a:t>RESPONSIVE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029200" cy="3200400"/>
          </a:xfrm>
          <a:prstGeom prst="roundRect">
            <a:avLst>
              <a:gd name="adj" fmla="val 3000"/>
            </a:avLst>
          </a:prstGeom>
          <a:solidFill>
            <a:srgbClr val="252836"/>
          </a:solidFill>
          <a:ln w="381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4754880" cy="27432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pezoid 6"/>
          <p:cNvSpPr/>
          <p:nvPr/>
        </p:nvSpPr>
        <p:spPr>
          <a:xfrm>
            <a:off x="2286000" y="4480560"/>
            <a:ext cx="1371600" cy="548640"/>
          </a:xfrm>
          <a:prstGeom prst="trapezoid">
            <a:avLst/>
          </a:prstGeom>
          <a:solidFill>
            <a:srgbClr val="25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</a:rPr>
              <a:t>Desktop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2560320" cy="3474720"/>
          </a:xfrm>
          <a:prstGeom prst="roundRect">
            <a:avLst>
              <a:gd name="adj" fmla="val 6000"/>
            </a:avLst>
          </a:prstGeom>
          <a:solidFill>
            <a:srgbClr val="252836"/>
          </a:solidFill>
          <a:ln w="381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463040"/>
            <a:ext cx="2286000" cy="301752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48920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</a:rPr>
              <a:t>Tablet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645920" cy="3474720"/>
          </a:xfrm>
          <a:prstGeom prst="roundRect">
            <a:avLst>
              <a:gd name="adj" fmla="val 10000"/>
            </a:avLst>
          </a:prstGeom>
          <a:solidFill>
            <a:srgbClr val="252836"/>
          </a:solidFill>
          <a:ln w="381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09760" y="1463040"/>
            <a:ext cx="1463040" cy="301752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29800" y="1371600"/>
            <a:ext cx="822960" cy="137160"/>
          </a:xfrm>
          <a:prstGeom prst="roundRect">
            <a:avLst>
              <a:gd name="adj" fmla="val 50000"/>
            </a:avLst>
          </a:prstGeom>
          <a:solidFill>
            <a:srgbClr val="25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48920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</a:rPr>
              <a:t>Mobile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Connect With 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6366F1">
              <a:lumMod val="25000"/>
              <a:lumOff val="75000"/>
            </a:srgbClr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366F1"/>
                </a:solidFill>
                <a:latin typeface="Arial"/>
              </a:rPr>
              <a:t>SOCIAL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rgbClr val="E07A5F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07A5F"/>
                </a:solidFill>
              </a:rPr>
              <a:t>github.com/rift-proxy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71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63440" y="1554480"/>
            <a:ext cx="731520" cy="731520"/>
          </a:xfrm>
          <a:prstGeom prst="ellipse">
            <a:avLst/>
          </a:prstGeom>
          <a:solidFill>
            <a:srgbClr val="6366F1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4231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Twitter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88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366F1"/>
                </a:solidFill>
              </a:rPr>
              <a:t>@rift_proxy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371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1554480"/>
            <a:ext cx="731520" cy="731520"/>
          </a:xfrm>
          <a:prstGeom prst="ellipse">
            <a:avLst/>
          </a:prstGeom>
          <a:solidFill>
            <a:srgbClr val="8B5CF6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4231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Discord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88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B5CF6"/>
                </a:solidFill>
              </a:rPr>
              <a:t>discord.gg/rift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840480"/>
            <a:ext cx="731520" cy="731520"/>
          </a:xfrm>
          <a:prstGeom prst="ellipse">
            <a:avLst/>
          </a:prstGeom>
          <a:solidFill>
            <a:srgbClr val="6366F1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LinkedIn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366F1"/>
                </a:solidFill>
              </a:rPr>
              <a:t>linkedin.com/company/rift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657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63440" y="3840480"/>
            <a:ext cx="731520" cy="731520"/>
          </a:xfrm>
          <a:prstGeom prst="ellipse">
            <a:avLst/>
          </a:prstGeom>
          <a:solidFill>
            <a:srgbClr val="EF4444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7091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YouTube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074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F4444"/>
                </a:solidFill>
              </a:rPr>
              <a:t>youtube.com/@rift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657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03920" y="3840480"/>
            <a:ext cx="731520" cy="731520"/>
          </a:xfrm>
          <a:prstGeom prst="ellipse">
            <a:avLst/>
          </a:prstGeom>
          <a:solidFill>
            <a:srgbClr val="81B29A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7091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074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1B29A"/>
                </a:solidFill>
              </a:rPr>
              <a:t>hello@rift.dev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Our Partners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81B29A">
              <a:lumMod val="25000"/>
              <a:lumOff val="75000"/>
            </a:srgbClr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1B29A"/>
                </a:solidFill>
                <a:latin typeface="Arial"/>
              </a:rPr>
              <a:t>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9CA3AF"/>
                </a:solidFill>
              </a:rPr>
              <a:t>Trusted by leading companies worldwide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</a:rPr>
              <a:t>Partner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82880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39" y="24688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</a:rPr>
              <a:t>Partner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</a:rPr>
              <a:t>Partner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59" y="182880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59" y="24688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</a:rPr>
              <a:t>Partner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</a:rPr>
              <a:t>Partner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39" y="411480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39" y="47548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</a:rPr>
              <a:t>Partner 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11480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7548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</a:rPr>
              <a:t>Partner 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59" y="411480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59" y="47548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</a:rPr>
              <a:t>Partner 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Awards &amp; Recognition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682495" cy="292608"/>
          </a:xfrm>
          <a:prstGeom prst="roundRect">
            <a:avLst>
              <a:gd name="adj" fmla="val 50000"/>
            </a:avLst>
          </a:prstGeom>
          <a:solidFill>
            <a:srgbClr val="F59E0B">
              <a:lumMod val="25000"/>
              <a:lumOff val="75000"/>
            </a:srgbClr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9E0B"/>
                </a:solidFill>
                <a:latin typeface="Arial"/>
              </a:rPr>
              <a:t>ACHIEVEMENTS</a:t>
            </a:r>
          </a:p>
        </p:txBody>
      </p:sp>
      <p:sp>
        <p:nvSpPr>
          <p:cNvPr id="5" name="Oval 4"/>
          <p:cNvSpPr/>
          <p:nvPr/>
        </p:nvSpPr>
        <p:spPr>
          <a:xfrm>
            <a:off x="1508760" y="1371600"/>
            <a:ext cx="914400" cy="914400"/>
          </a:xfrm>
          <a:prstGeom prst="ellipse">
            <a:avLst/>
          </a:prstGeom>
          <a:solidFill>
            <a:srgbClr val="F59E0B">
              <a:lumMod val="50000"/>
              <a:lumOff val="50000"/>
            </a:srgbClr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5544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/>
              <a:t>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Best Developer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</a:rPr>
              <a:t>DevAwards 2024</a:t>
            </a:r>
          </a:p>
        </p:txBody>
      </p:sp>
      <p:sp>
        <p:nvSpPr>
          <p:cNvPr id="10" name="Oval 9"/>
          <p:cNvSpPr/>
          <p:nvPr/>
        </p:nvSpPr>
        <p:spPr>
          <a:xfrm>
            <a:off x="4389119" y="1371600"/>
            <a:ext cx="914400" cy="914400"/>
          </a:xfrm>
          <a:prstGeom prst="ellipse">
            <a:avLst/>
          </a:prstGeom>
          <a:solidFill>
            <a:srgbClr val="E07A5F">
              <a:lumMod val="50000"/>
              <a:lumOff val="50000"/>
            </a:srgbClr>
          </a:solidFill>
          <a:ln w="381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19" y="15544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/>
              <a:t>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256032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9" y="2743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Performance Excellence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599" y="35204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</a:rPr>
              <a:t>Tech Summit</a:t>
            </a:r>
          </a:p>
        </p:txBody>
      </p:sp>
      <p:sp>
        <p:nvSpPr>
          <p:cNvPr id="15" name="Oval 14"/>
          <p:cNvSpPr/>
          <p:nvPr/>
        </p:nvSpPr>
        <p:spPr>
          <a:xfrm>
            <a:off x="7269480" y="1371600"/>
            <a:ext cx="914400" cy="914400"/>
          </a:xfrm>
          <a:prstGeom prst="ellipse">
            <a:avLst/>
          </a:prstGeom>
          <a:solidFill>
            <a:srgbClr val="8B5CF6">
              <a:lumMod val="50000"/>
              <a:lumOff val="50000"/>
            </a:srgbClr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15544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/>
              <a:t>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56032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743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Open Source Hero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5204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</a:rPr>
              <a:t>GitHub Stars</a:t>
            </a:r>
          </a:p>
        </p:txBody>
      </p:sp>
      <p:sp>
        <p:nvSpPr>
          <p:cNvPr id="20" name="Oval 19"/>
          <p:cNvSpPr/>
          <p:nvPr/>
        </p:nvSpPr>
        <p:spPr>
          <a:xfrm>
            <a:off x="10149839" y="1371600"/>
            <a:ext cx="914400" cy="914400"/>
          </a:xfrm>
          <a:prstGeom prst="ellipse">
            <a:avLst/>
          </a:prstGeom>
          <a:solidFill>
            <a:srgbClr val="6366F1">
              <a:lumMod val="50000"/>
              <a:lumOff val="50000"/>
            </a:srgbClr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39" y="15544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/>
              <a:t>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59" y="256032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19" y="2743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Innovation Award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35204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</a:rPr>
              <a:t>Cloud Native Con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Case Study: TechCorp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81B29A">
              <a:lumMod val="25000"/>
              <a:lumOff val="75000"/>
            </a:srgbClr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1B29A"/>
                </a:solidFill>
                <a:latin typeface="Arial"/>
              </a:rPr>
              <a:t>SUCCESS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F4444"/>
                </a:solidFill>
                <a:latin typeface="Arial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• CI/CD pipeline taking 45+ minutes
• Mock server bottleneck in tests
• 500+ microservices to test
• Flaky tests due to timeouts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1B29A"/>
                </a:solidFill>
                <a:latin typeface="Arial"/>
              </a:rPr>
              <a:t>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• Replaced Mountebank with Rift
• Zero configuration changes
• Same test suite, faster execution
• Stable, deterministic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E07A5F"/>
                </a:solidFill>
                <a:latin typeface="Arial"/>
              </a:rPr>
              <a:t>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FASTER CI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8404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97764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81B29A"/>
                </a:solidFill>
                <a:latin typeface="Arial"/>
              </a:rPr>
              <a:t>$120K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8920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ANNUAL SAVINGS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8404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7764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  <a:latin typeface="Arial"/>
              </a:rPr>
              <a:t>99.9%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8920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TEST RELIABILITY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84048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39776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8B5CF6"/>
                </a:solidFill>
                <a:latin typeface="Arial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8920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CODE CHANGES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394960"/>
            <a:ext cx="10881360" cy="1097280"/>
          </a:xfrm>
          <a:prstGeom prst="roundRect">
            <a:avLst>
              <a:gd name="adj" fmla="val 4000"/>
            </a:avLst>
          </a:prstGeom>
          <a:solidFill>
            <a:srgbClr val="1E2235"/>
          </a:solidFill>
          <a:ln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FFFFFF"/>
                </a:solidFill>
              </a:rPr>
              <a:t>"Rift transformed our testing infrastructure overnight. The ROI was immediate."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Before &amp; After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1901952" cy="292608"/>
          </a:xfrm>
          <a:prstGeom prst="roundRect">
            <a:avLst>
              <a:gd name="adj" fmla="val 50000"/>
            </a:avLst>
          </a:prstGeom>
          <a:solidFill>
            <a:srgbClr val="E07A5F">
              <a:lumMod val="25000"/>
              <a:lumOff val="75000"/>
            </a:srgbClr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07A5F"/>
                </a:solidFill>
                <a:latin typeface="Arial"/>
              </a:rPr>
              <a:t>TRANSFORMATION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303520" cy="4937760"/>
          </a:xfrm>
          <a:prstGeom prst="roundRect">
            <a:avLst>
              <a:gd name="adj" fmla="val 3000"/>
            </a:avLst>
          </a:prstGeom>
          <a:solidFill>
            <a:srgbClr val="1E2235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EF4444"/>
                </a:solidFill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F4444"/>
                </a:solidFill>
              </a:rPr>
              <a:t>✗  Slow test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F4444"/>
                </a:solidFill>
              </a:rPr>
              <a:t>✗  45 min CI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F4444"/>
                </a:solidFill>
              </a:rPr>
              <a:t>✗  Resource intensive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F4444"/>
                </a:solidFill>
              </a:rPr>
              <a:t>✗  Frequent timeouts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F4444"/>
                </a:solidFill>
              </a:rPr>
              <a:t>✗  Complex debugging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77840" y="3383280"/>
            <a:ext cx="640080" cy="457200"/>
          </a:xfrm>
          <a:prstGeom prst="rightArrow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5303520" cy="4937760"/>
          </a:xfrm>
          <a:prstGeom prst="roundRect">
            <a:avLst>
              <a:gd name="adj" fmla="val 3000"/>
            </a:avLst>
          </a:prstGeom>
          <a:solidFill>
            <a:srgbClr val="81B29A">
              <a:lumMod val="15000"/>
              <a:lumOff val="85000"/>
            </a:srgbClr>
          </a:solidFill>
          <a:ln w="254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325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B29A"/>
                </a:solidFill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1B29A"/>
                </a:solidFill>
              </a:rPr>
              <a:t>✓  Blazing fast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4320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1B29A"/>
                </a:solidFill>
              </a:rPr>
              <a:t>✓  8 min CI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747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1B29A"/>
                </a:solidFill>
              </a:rPr>
              <a:t>✓  Low memory footprint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2062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1B29A"/>
                </a:solidFill>
              </a:rPr>
              <a:t>✓  Consistent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93776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1B29A"/>
                </a:solidFill>
              </a:rPr>
              <a:t>✓  Built-in diagnostics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Section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B7280"/>
                </a:solidFill>
              </a:rPr>
              <a:t>Subtitle or description goes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754880"/>
            <a:ext cx="2133295" cy="54864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E07A5F"/>
                </a:solidFill>
              </a:rPr>
              <a:t>hello@rift.dev  •  @rift_proxy  •  github.com/rift-proxy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1645920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E07A5F">
              <a:lumMod val="25000"/>
              <a:lumOff val="75000"/>
            </a:srgbClr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07A5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9CA3AF"/>
                </a:solidFill>
              </a:rPr>
              <a:t>Same configs. Same API. Dramatically faster.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84632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498348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E07A5F"/>
                </a:solidFill>
                <a:latin typeface="Arial"/>
              </a:rPr>
              <a:t>20-250x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6235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FASTER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484632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498348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81B29A"/>
                </a:solidFill>
                <a:latin typeface="Arial"/>
              </a:rPr>
              <a:t>Zero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56235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CONFIG CHANGES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84632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8348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  <a:latin typeface="Arial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6235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COMPATIBLE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07A5F"/>
                </a:solidFill>
              </a:rPr>
              <a:t>rift.dev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